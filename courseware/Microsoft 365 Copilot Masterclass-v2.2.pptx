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Descending overdue counts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Pump Service</c:v>
                </c:pt>
                <c:pt idx="1">
                  <c:v>Meter Service</c:v>
                </c:pt>
                <c:pt idx="2">
                  <c:v>Leak Repair</c:v>
                </c:pt>
                <c:pt idx="3">
                  <c:v>Valve Repair</c:v>
                </c:pt>
                <c:pt idx="4">
                  <c:v>Pipe Replacement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share (%)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Pump Service</c:v>
                </c:pt>
                <c:pt idx="1">
                  <c:v>Meter Service</c:v>
                </c:pt>
                <c:pt idx="2">
                  <c:v>Leak Repair</c:v>
                </c:pt>
                <c:pt idx="3">
                  <c:v>Valve Repair</c:v>
                </c:pt>
                <c:pt idx="4">
                  <c:v>Pipe Replacement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60</c:v>
                </c:pt>
                <c:pt idx="2">
                  <c:v>76</c:v>
                </c:pt>
                <c:pt idx="3">
                  <c:v>92</c:v>
                </c:pt>
                <c:pt idx="4">
                  <c:v>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Backlog work orders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Sheet1!$A$2:$A$6</c:f>
              <c:strCache>
                <c:ptCount val="5"/>
                <c:pt idx="0">
                  <c:v>Woodlands Hub</c:v>
                </c:pt>
                <c:pt idx="1">
                  <c:v>Jurong Depot</c:v>
                </c:pt>
                <c:pt idx="2">
                  <c:v>Tampines Centre</c:v>
                </c:pt>
                <c:pt idx="3">
                  <c:v>Changi Workshop</c:v>
                </c:pt>
                <c:pt idx="4">
                  <c:v>Paya Lebar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NON-WSQ COURSE  •  C27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Version v2.2  ·  14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Microsoft 365 Copilot Masterclass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UEN: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Welcome &amp; Housekeeping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Your name, role and one maintenance reporting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app holds the work-order source?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Which date and status definitions determine overdue work?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which Copilot buttons and skills menus are available in your assigned apps.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Learn by doing — try every hands-on lab.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COURSE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Access Course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C27 course page or the trainer-supplied Drive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courseware links for this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Download the Slides, Learner Guide and Lesson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Open the labs folder for all 10 lab folders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Keep the files together as you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Course page:  https://www.tertiarycourses.com.sg/microsoft-365-copilot-masterclass.html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Lesson Plan — 1 Day, 7.5 instructional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Course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Day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1: Fundamentals of Microsoft 365 Copilot (Labs 1–2)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2: Personalisation, .Rules and Skills for Excel (Labs 3–6)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3: Interactive Dashboards with Custom Skills (Labs 7–8)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Topic 4: Create a Professional Presentation with PowerPoint Copilot (Labs 9–10)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9:30 am - 6:30 pm (1-hour lunch; two 15-minute tea breaks; 7.5 instructional hours)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Instructional time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7.5 hours · 10 connected labs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Learning arc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–  Concept → demonstrate → build → verify → discuss → 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Distinguish account Personalisation, workbook .Rules and reusable Skills; configure, create, apply and verify Pareto and maintenance-reporting Skills using water-service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and apply a custom interactive-dashboard Skill with verified measures, shared filter scope, editable charts and controlled refresh and rerun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How You'll 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Trainer demonstrates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6313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You build it yourself in the hands-on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386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Verify with the lab's 'Test it'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4459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Discuss and troubleshoot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3532" y="2331720"/>
            <a:ext cx="1878177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Recap against the learning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Fundamentals of Microsoft 365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One verified maintenance workflow across four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Grounding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Select actual sources in every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Work orders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IDs, status, category, site and current assignment.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Prompts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Goal, context, source and expectations.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 Word, Excel, slides and draft email.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Excel to Word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Prepare Work Orders and Draft the Operations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Word to PowerPoint and Outlook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the Cross-App Maintenance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CONNECTED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Northstar Maintenance Evidence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Excel: clean and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Word: operations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PowerPoint: decision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Outlook: reviewed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Work Order Has State, Scope and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WO-2026-0003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Woodlands 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Leak Repair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In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918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Chloe Goh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Current owner is evidence. Proposed owner is a separate planning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Grounding gives an AI request the specific evidence it should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maintenance figure can be correct in Excel yet become wrong in an email when the source, reporting date or filter scope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analyses tblWorkOrders; Word receives the checked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the authoritative work-order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goal, context, source and expected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against the named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Pass a verified snapshot to the next 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Grounding Across Microsoft 365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PowerPoint receives the reviewed Word brief; Outlook receives the same checked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Excel chat transcript is not an automatic PowerPoint data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row represents one work order, identified by Work_Order_ID.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exact duplicated export row changes counts and cost without representing new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122 raw rows contain 120 distinct work-order 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one ID per work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exact repeated export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Standardise labels without inventing facts.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cleaned counts and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Work-Order Grain and Reporting Measures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Total = Closed + Cancelled + Backlog after exact duplicate removal.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Due on 30 September is not overdue at the 30 September snapshot.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THEME · EXCEL TO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Prepare Work Orders and Draft the Operations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You are Northstar Water Services’ maintenance coordinator. A Q3 export contains repeated IDs and inconsistent category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Northstar_Clean_Work_Orders.xlsx and Northstar_Operations_Brief.docx, with reconciled counts, reporting scope and a source register.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Clean table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Work_Order_ID rows; five canonical job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Portfolio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= 48 Closed + 12 Cancelled + 60 backlog.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handoff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Overdue 50; unassigned backlog 6; total cost S$35,827.50. Word agrees with Excel.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No guessed owner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Blank assignments remain blank; proposals labelled unapproved.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useful prompt combines the intended goal, operational context, named source and output expectations.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number may have different meaning when a chart counts all work orders while an email calls it open backlog.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Goal: draft a maintenance update for the operations manager.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the goal and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Attach or select the actual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Specify definitions and missing-value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the returned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Prompts and Verified App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Source: reviewed Northstar operations brief, all filters All,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Expectation: label assignment suggestions as proposals and leave unknown approvals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help structure a draft email from supplied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apparently routine update can accidentally promise technician reassignment or imply that a manager approved a recovery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Current owner blank; proposed owner Aisha remains unapproved.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Provide the synthetic thread and checked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Draft a concise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recipients, facts and action wording.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 unsent draft and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Outlook Drafting and Operational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draft addressed to example.invalid is a training artifact.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handoff says decision requested, not decision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THEME · WORD TO POWERPOINT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Create the Cross-App Maintenance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verified operations brief from Lab 1. You will turn it into an initial PowerPoint update, then prepare an Outlook reply to a synthetic maintenance thread.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Northstar_Initial_Update.pptx, an unsent Outlook draft and Northstar_Cross_App_Evidence.csv with Excel, Word, PowerPoint and Outlook figures reconciled.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Four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Excel Checks, Word brief, four-slide update and unsent Outlook draft share the same date and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Cross-app grounding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Named file or pasted verified evidence is provided in each app; no assumed shared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example.invalid recipient; nothing sent and no assignment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Recap - Fundamentals of Microsoft 365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LO1: Same work-order evidence across four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120 clean IDs and reconciled brief/update/draft.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Personalisation, .Rules and Skills for Excel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Account preferences, workbook conventions and reusable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Personalisation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Account preferences across workbooks; task-specific overrides.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.Rules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Visible column-A instructions travel with the workbook.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Pareto Skill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Create, install and apply verified contribution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Reporting Skill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Excel and PowerPoint use with input and rerun 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Labs 3–4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Personalisation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Personalise Copilot in Excel for Consistent Service Reports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Workbook .Rules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and Test Workbook .Rules for Water Service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Labs 5–6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Custom Pareto Chart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 Custom Pareto Chart Skill and Apply It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Reporting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Create, Use and Improve the Maintenance Reporting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SCOPE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Four Scopes of Customisation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Personalisation: your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.Rules: this workbook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Skill: repeated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Prompt: this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Copilot Personalisation stores account-level preferences for display, writing style and formula conventions.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S$ display and short explanations reduce repetitive requests without changing numeric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value of 35827.5 can display as S$35,827.50 or S$35,827.5000.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recurring display preferences.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them to the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two workbook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a specific request and restore.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Account Personalisation and Specific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Changing a number format does not change its numeric value.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Another user opening the file does not receive your account preferences.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THEME · PERSONALISATION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Personalise Copilot in Excel for Consistent Service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Configure temporary account-level display and explanation preferences, test them in two copies of the same verified Northstar workbook, and distinguish preferences from workbook-specific definitions. A task-specific prompt can supersede Personalisation.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Northstar_Personalisation_Test.xlsx, a two-workbook preference comparison and a private note confirming settings restored.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in Excel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controls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Both copies retain120 unique IDs, original owners/statuses and exact cost 35827.50.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Display check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Saved S$ two-decimal/date/explanation preferences are checked in two workbooks; observed misses are recorded.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Specific request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output can show35,827.5000 without changing its value or the saved preferences.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Restoration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Previous account preferences restored; private baseline note stays outside public courseware.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WORKBOOK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Visible .Rules: Instructions Travel with the Workbook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Northstar reporting conventions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9748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Preserve original IDs and current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747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Backlog excludes Closed and Cancelled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59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1201C"/>
                </a:solidFill>
                <a:latin typeface="Cambria"/>
              </a:rPr>
              <a:t>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51959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Reporting date: 2026-09-30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Formula rule reads Control!B2; Copilot uses the recalculated result on the next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visible worksheet named exactly .Rules, including the dot, supplies workbook-specific Copilot instructions in column 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workbook can carry stable scope, status, cost-display and preservation instructions alongside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date rule returns Reporting date: 2026-09-30 from Control!B2.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visible sheet exactly .Rules.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Place one instruction per column-A cell.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 formula-driven rule.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the next output and copied workbook.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Visible Workbook .Rules and Formula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Hidden .Rules is not used; keep the final sheet visible.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No universal precedence among rules, preferences and Skills is assumed.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THEME · WORKBOOK .RULES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Create and Test Workbook .Rules for Water Service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Turn Northstar’s workbook conventions into a visible .Rules worksheet. Keep one rule per cell in column A, include a formula-driven reporting-date rule, test the output, and verify that the sheet travels with a copied workbook.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Northstar_Rules_Workbook.xlsx with visible .Rules column A, a checked Rules_Test output and a copied-workbook sharing check.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in Excel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Recognition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Exactly .Rules; visible worksheet; instructions in column A, one idea per cell.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Formula rule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Reporting-date formula recalculates and displays2026-09-30; no source values 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Output controls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total;60 backlog;50 overdue;30/48 on-time;S$35,827.50 at All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Workbook copy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Visible .Rules travels with the copy; account preferences are not exported.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PARETO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Overdue Contribution: 50 Work Orders, Five Categories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828800"/>
          <a:ext cx="50292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Four categories first reach 80%. Equal counts use alphabetical ties. Contribution is not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Pareto contribution chart orders category counts from largest to smallest and adds a cumulative-percentage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turns a recurring grouping-and-charting method into reusable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Pump 18; Meter 12; Leak 8; Valve 8; Pipe 4: total 50.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source, population, date and grouping.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Count and sort with stable 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Calculate cumulative count / eligible total.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Build and verify an editable dual-axis chart.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Pareto Skill: Counts, Sorting and Cumulative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Cumulative percentages are 36%, 60%, 76%, 92%, 100%.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Four of five categories first reach 80%; do not force an 80/20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THEME · CUSTOM PARETO CHART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 a Custom Pareto Chart Skill and Apply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Author water-service-pareto/SKILL.md with Copilot, install it in Excel and apply it to the same overdue work-order queue. Build a descending count chart plus cumulative-percentage line, then check a controlled rerun and a second grouping.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water-service-pareto/SKILL.md, Northstar_Pareto.xlsx with Pareto_Job_Category and Pareto_Site, and a verified rerun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Eligible population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Overdue backlog50; no Closed or Cancelled records included.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Category counts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Pump Service=18; Meter Service=12; Leak Repair=8; Valve Repair=8; Pipe Replacement=4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Cumulative percentages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36%,60%,76%,92%,100%; Leak Repair precedes Valve Repair in the8-count 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and rerun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Editable columns plus cumulative line; right axis0%-100%; matching output replaced only after review, without duplicates.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and interpretation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original records preserved; Site grouping also totals50; no invented root cause.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SKILL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Anatomy of the Maintenance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556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name +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556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When should Copilot use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32304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42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table or snapshot + date +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420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evidence is missing?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18688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284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definitions + source preservation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2841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How should measures be calculated?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05072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14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summary / charts / proposals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Which named areas may change?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91456"/>
            <a:ext cx="10652760" cy="65836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90118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counts + denominators + reruns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9011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What proves the result?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REPEATABLE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Skill Improves Through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v1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on verified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Find one concrete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v2 + repeat the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prompt is one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skill makes stable definitions and review boundaries reusable: backlog excludes two terminal statuses, overdue uses a fixed date, missing owners stay missing and output reruns do not duplicate sheets.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maintenance-reporting contains definitions and output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a recurring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Separate stable rules from current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name, description and instructions.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Install, invoke and inspect the result.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Skills, Prompts and Workbook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Each request still supplies this month’s source, date and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Native skill use and pasted manual instructions are recorded differently.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Excel uses its Manage plugins &amp; skills interface and an app-created OneDrive skills folder.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Folder-name/frontmatter mismatches, an extra .txt extension, unavailable licence features and disabled skills can all prevent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Folder maintenance-reporting matches YAML name maintenance-reporting.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complete UTF-8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app-created skills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and verify the matching 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Run and record a smoke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Custom Skill Discovery in Each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Excel and PowerPoint both show the skill before native invocation.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If a menu is absent, manual practice is labelled feature unavailable.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Repeatability means the same verified inputs and method yield equivalent business measures and a controlled output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Reporting skills may be used every week or month, so uncontrolled output accumulation quickly creates conflicting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120 source IDs remain 120 after rerunning Maintenance_Summary.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Capture the source fingerprint and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a reviewed rerun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Replace only named output 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source and measures again.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Repeatability and Safe Skill Reruns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Missing report date causes a clarification request, not invented numbers.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second output sheet is a defect when replacement was requested.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Assignment planning combines the work category, existing owner, estimated hours, technician primary category and available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same skill can improve Excel analysis and PowerPoint wording by preserving this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Unassigned work is counted only within nonterminal statuses.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Identify unassigned backlog.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Compare category and available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the proposal and assumptions.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Request the manager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Assignment Proposals and Capacity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 hours minus proposed effort is a planning check.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source Assigned_To stays unchanged until a real authorised operational update.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THEME · REPORTING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Create, Use and Improve the Maintenance Reporting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Reuse the Skill-authoring and installation method from Lab 5 to create maintenance-reporting. Apply it in Excel and PowerPoint, test missing inputs and a controlled rerun, then refine v2 using actual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Northstar_Skill_Report.xlsx with Maintenance_Summary and Assignment_Proposals, Northstar_Skill_Update.pptx, SKILL.md v2 and a before/after improvement 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and PowerPoint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preserved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120 unique orders; current owner/status unchanged.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 outputs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60; overdue 50; on-time closed 30/48; cost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Improvement evidence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Input guard and rerun tested; v1/v2 retained; PowerPoint four-slide output accurate.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Personalisation, .Rules and Skills for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LO2: Personalisation, .Rules, Pareto and reporting Skills 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Preserved source plus missing-input and rerun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Interactive Dashboards with Custom Skills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Create the Skill, build the dashboard and prove interactions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Key Concepts —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Measures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Counts, backlog, overdue, on-time rate and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Visuals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Choose charts by maintenance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One filter scope for every chart and KPI.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Refresh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Known deltas in an isolated test copy.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Hands-On Labs —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Custom Dashboard Skill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Create and Apply a Custom Interactive Dashboard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Interactive Filters and Refresh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Use the Dashboard Skill for Filters, Refresh and Safe Reruns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WORKED 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Northstar Portfolio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8470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Overdue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On-time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30/48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0439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63016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Recorded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06907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21201C"/>
                </a:solidFill>
                <a:latin typeface="Cambria"/>
              </a:rPr>
              <a:t>S$35,828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NATIVE 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Backlog by Site: Count the Nonterminal 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691640"/>
          <a:ext cx="10332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REUSABLE DASHBOARD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Interactive Dashboard Skill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Named source +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Six shared-scope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Four filters + three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Refresh + safe rerun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water-service-dashboard is a separate custom Skill whose instructions define inputs, six KPI formulas, four shared filter selectors, three editable charts and controlled output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reusable contract makes every KPI and chart obey the same AND filter logic and allows a safe refresh using table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Dashboard B2:B5 select site, category, status and owner.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Author and review the complete SKILL.md.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Install and verify the dashboard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Invoke a plan and build the reviewed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common filters, append refresh and reruns.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Custom Dashboard Skill as a Reusable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B7:B12 and all chart summaries use the identical selected rows.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122-row sandbox is separate from the untouched 120-row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measure needs a business definition, numerator, denominator where relevant, date rule and filter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Changing the denominator can make an attractive rate meaningless.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Closed-only rate is different from closed/total completion share.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source fields and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Compute count and denominator.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Handle empty selections explicitly.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against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Dashboard Measures and Denominators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due-today backlog item is not overdue under a strict before-date rule.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selected status/chart counts reconcile to total selected work orders.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should make an operational decision easier.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Consistent chart scales, short labels, whitespace and limited accents help a manager compare the work queue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Status count chart shows the portfolio mix.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Name the maintenance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Choose the measure and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an appropriate labelled chart.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meaning and readability.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Visual Dashboard Design for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Site backlog chart excludes Closed and Cancelled.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category count does not establish the root cause of overdue jobs.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THEME · CUSTOM DASHBOARD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Create and Apply a Custom Interactive Dashboard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Create water-service-dashboard/SKILL.md for the Northstar maintenance workflow, install it in Excel, then invoke it to plan and build an interactive dashboard. Six KPIs and three charts share four filter selections.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a Dashboard layout, six verified measures, three labelled charts and a measure dictionary ready for Lab 8 filters.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120; backlog 60; overdue 50; closed 48.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SLA and cost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30/48 = 62.5%; S$35,827.50.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reconciliation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Three count summaries each total 120; formulas reference tblWorkOrders.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design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Measures dictionary and source/date visible; no unsupported cause claims.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EDITABLE WORKED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Same Data, Different Filter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All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30/48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166360" cy="3977639"/>
          </a:xfrm>
          <a:prstGeom prst="roundRect">
            <a:avLst>
              <a:gd name="adj" fmla="val 5517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Woodlands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Total: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7238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Backlog: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844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Overdue: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Closed: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085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21201C"/>
                </a:solidFill>
                <a:latin typeface="Calibri"/>
              </a:rPr>
              <a:t>On-time closed: 10/16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01C"/>
                </a:solidFill>
                <a:latin typeface="Calibri"/>
              </a:rPr>
              <a:t>Source: synthetic tblWorkOrders | 30 Sep 2026 | All filters All unless stated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Interactive means a learner-controlled selection changes the evidence shown.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dashboard can appear interactive while only one chart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Woodlands Hub plus All in other selectors isolates that site.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Define the selector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same AND mask everywhere.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Test each control and edge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selected chart and KPI totals.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One Filter Scope for Every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Status New gives zero Closed and N/A closure 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slicer must connect to every intended PivotTable.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refresh test deliberately introduces known new records and verifies the expected delta.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correct dashboard today may fail after the next export if formulas reference a fixed cell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Two test rows increase total by2 and recorded cost byS$400.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Save an isolated sandbox copy.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Append known unique test rows.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Recalculate and verify expected deltas.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Handoff the untouched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Refresh Tests and Static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Only one new row adds to backlog/overdue; the other adds to on-time Closed.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deck uses the untouched 120-row baseline, not the test 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THEME · INTERACTIVE FILTERS AND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Use the Dashboard Skill for Filters, Refresh and Safe Reruns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Lab 7 by making four dropdown selectors control every KPI and chart. Test a single site, a zero-denominator selection and a combined category/owner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Northstar_Dashboard.xlsx with four working filters plus Northstar_Dashboard_Refresh_Test.xlsx, filter evidence and a verified baseline snapshot for PowerPoint.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Excel Copilot · Microsoft 365 Copilot web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Woodlands control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Total 24; backlog 8; overdue 7; closed 16; cost S$6,668.50; on-time 10/16.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scope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Changing any of four filters affects all six KPI measures and all chart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Edge case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Closed -&gt; N/A; no rows -&gt; zero count/cost and N/A 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319272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Refresh sandbox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122 total;49 closed;61 backlog;51 overdue;S$36,227.50;31/49 on-time.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55464"/>
            <a:ext cx="5180076" cy="1298448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Handoff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Return to 120-row untouched baseline; date and All scope recorded.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Recap - Interactive Dashboards with Custom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LO3: Six measures and three charts share four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Baseline controls and known refresh deltas.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Create a Professional Presentation with PowerPoint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B4A9"/>
                </a:solidFill>
                <a:latin typeface="Calibri"/>
              </a:rPr>
              <a:t>Continue the dashboard into a decision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Key Concepts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Evidence story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Observation, implication, action and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Charts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Reviewed values, provenance and snapshot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Refinement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Hierarchy, notes and actual rehearsal feedback.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1201C"/>
                </a:solidFill>
                <a:latin typeface="Cambria"/>
              </a:rPr>
              <a:t>Handoff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Reconciled pack and unsent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Hands-On Labs —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2579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97757"/>
                </a:solidFill>
                <a:latin typeface="Cambria"/>
              </a:rPr>
              <a:t>Lab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Dashboard to presentation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Turn Dashboard Evidence into a Management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783080"/>
            <a:ext cx="5225796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5916" y="1783080"/>
            <a:ext cx="522579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011680"/>
            <a:ext cx="48143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Lab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697480"/>
            <a:ext cx="48143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•  Professional handoff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–  Refine and Present the Maintenance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TO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A Verified Chart Becomes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Observed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Operational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Proposed recovery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5B4B8A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Manager decision requested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management presentation transforms evidence into a sequence of observations, implications, proposed actions and a decision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Copilot can accelerate outlines and drafting, but a persuasive invented conclusion is still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Backlog by site supports prioritisation, not a proven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Freeze the verified dashboard snapshot.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Register each proposed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Write a reviewed Word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Generate and reconcile the deck.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From Dashboard Evidence to a Decision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Available-hours evidence supports a capacity discussion, not confirmed allocation.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final slide asks management to decide on a proposed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template supplies slide layouts, typography and colours; it does not supply correct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Approximate AI-generated charts can contradict source values while looking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An editable embedded chart remains a copy rather than a tested live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Select the reviewed brief.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the existing template.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Insert verified charts or tables.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source and snapshot scope.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Charts, Templates and Source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An image is labelled as a snapshot at 30 September.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All eight slides use one reviewed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THEME · DASHBOARD TO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Turn Dashboard Evidence into a Management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alibri"/>
              </a:rPr>
              <a:t>Continue the baseline dashboard from Topic 3. Build a slide evidence register and a Word presentation brief before asking PowerPoint Copilot for an eight-slide management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Northstar_Presentation_Brief.docx, Northstar_Management_Draft.pptx and a slide-by-slide evidence register tied to the 120-row dashboard snapshot.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9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Evidence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Every deck figure maps to the 120-row Lab 8 baseline and slide evidence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Eight-slide narrative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Observation -&gt; implication -&gt; proposed action -&gt; decision; no invented cause/savings.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Chart semantics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Backlog charts exclude Closed/Cancelled; embedded/image copies labelled snapshot.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ARTIFACT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The Maintenance Reporting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Interactive 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Dated Word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Static PPTX +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A7D7B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Reviewed unsent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Refinement improves the clarity of the existing evidence without changing its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A well-designed deck can still fail when the speaker’s notes contain different numbers or a proposal is spoken as an approved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One message per slide; chart labels remain readable.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Audit the draft against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Apply reviewed design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Rehearse and record actual feedback.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PPTX and exported PDF.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Apply the Concept — Professional Refinement and Rehearsal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A 45-second note explains evidence and limitation.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Partner feedback leads to one recorded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422904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2603F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The final pack contains an interactive Excel dashboard, a fixed reporting brief, a static PowerPoint/PDF snapshot, the custom skill and a reviewed communication draft.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024" y="1783080"/>
            <a:ext cx="3422904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A7D7B"/>
                </a:solidFill>
                <a:latin typeface="Cambria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Updating one artifact without the others creates inconsistent communication.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8808" y="1783080"/>
            <a:ext cx="3422904" cy="429768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8808" y="1783080"/>
            <a:ext cx="3422904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7408" y="2011680"/>
            <a:ext cx="3011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5B4B8A"/>
                </a:solidFill>
                <a:latin typeface="Cambria"/>
              </a:rPr>
              <a:t>CHECK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7408" y="2697480"/>
            <a:ext cx="301142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•  PowerPoint and PDF both show eight slides/pages from the same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Reconcile final artifacts.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582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3582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actual filenames and links.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9924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Review the handoff draft.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2603F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6266" y="2331720"/>
            <a:ext cx="2425446" cy="288036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6266" y="2331720"/>
            <a:ext cx="242544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Preserve the dated snapshot and skill.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Apply the Concept — Reviewed Handoff and Artifact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12080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83080"/>
            <a:ext cx="5056632" cy="4297680"/>
          </a:xfrm>
          <a:prstGeom prst="roundRect">
            <a:avLst>
              <a:gd name="adj" fmla="val 5106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56632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libri"/>
              </a:rPr>
              <a:t>EVIDENCE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Name the source, reporting date and selected scope.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Explain the result using checked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Outlook does not claim a missing attachment was sent.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•  The next update reruns the method with new verified inputs.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THEME · PROFESSIONAL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21201C"/>
                </a:solidFill>
                <a:latin typeface="Cambria"/>
              </a:rPr>
              <a:t>Refine and Present the Maintenance Decision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3447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Refine the management deck using the same custom skill and reviewed dashboard evidence. Improve hierarchy, consistency and speaker notes, test the story in a short rehearsal, and prepare a reviewed Outlook handoff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34472" cy="2286000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1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10058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01C"/>
                </a:solidFill>
                <a:latin typeface="Calibri"/>
              </a:rPr>
              <a:t>Northstar_Management_Final.pptx/PDF, a rehearsal record, final evidence register and unsent Outlook handoff draft with accurate artifact links.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1  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1588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452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2 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3  Verify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3084" y="4828032"/>
            <a:ext cx="2391156" cy="475488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7948" y="4882896"/>
            <a:ext cx="22814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alibri"/>
              </a:rPr>
              <a:t>4 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Microsoft 365 Copilot · Excel · Word · PowerPoint · Outlook · OneDrive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PROMPTS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Sample Prompts — Lab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Scope: State actual source, report date and selected scope before acting.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Explain the source/formula checks and preserve unknowns and original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Check Your Results — Lab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Presentation 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Eight slides and eight PDF pages; visible figures agree with verified register.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delivery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Readable chart labels, consistent design, evidence-specific notes and actual rehearsal improvement.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Final continuity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Baseline dashboard, brief, deck and unsent draft agree; static snapshot stated.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boundary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No real email sent or work order reassigned; proposed actions remain proposed.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01C"/>
                </a:solidFill>
                <a:latin typeface="Cambria"/>
              </a:rPr>
              <a:t>Recap - Create a Professional Presentation with PowerPoint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LO4: Eight-slide evidence story and reviewed handoff.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59936"/>
            <a:ext cx="10634472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059936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4133088"/>
            <a:ext cx="973836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Verify: PDF, notes, register and actual rehearsal agree.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8595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Course Summary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206240"/>
            <a:ext cx="114300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Connected Copilot workflow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Integrate Word, Excel, PowerPoint and Outlook Copilot in a coherent maintenance workflow with explicit source grounding and verified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64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Reusable maintenance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Distinguish account Personalisation, workbook .Rules and reusable Skills; configure, create, apply and verify Pareto and maintenance-reporting Skills using water-service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64008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Interactive 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Create and apply a custom interactive-dashboard Skill with verified measures, shared filter scope, editable charts and controlled refresh and rerun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87368"/>
            <a:ext cx="5180076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64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Professional presentation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Continue from the dashboard to a professional management presentation, with evidence-based headlines, source notes, rehearsal and a reviewed handoff draft.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Your Next Maintenance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Use a copy and a new explicit reporting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16224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316224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Supply verified source/date/scope and test skill reruns.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03648"/>
            <a:ext cx="10634472" cy="1322832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3648"/>
            <a:ext cx="10634472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Reconcile every claim and decision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927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21201C"/>
                </a:solidFill>
                <a:latin typeface="Cambria"/>
              </a:rPr>
              <a:t>Keep Practising After the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Re-run the labs on your own machine — repetition is what makes the skills stick.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6772" y="1828800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6772" y="1828800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the techniques to a real process or project in your own organisation.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your downloaded C27 course files and use the lab checkpoints to restart safely.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6772" y="4059936"/>
            <a:ext cx="5234940" cy="2066544"/>
          </a:xfrm>
          <a:prstGeom prst="roundRect">
            <a:avLst>
              <a:gd name="adj" fmla="val 6000"/>
            </a:avLst>
          </a:prstGeom>
          <a:solidFill>
            <a:srgbClr val="FFFFFE"/>
          </a:solidFill>
          <a:ln w="12700">
            <a:solidFill>
              <a:srgbClr val="DCD8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6772" y="4059936"/>
            <a:ext cx="5234940" cy="64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Explore the follow-on courses at www.tertiarycourses.com.sg.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THANK YOU FOR ATTENDING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8503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9B4A9"/>
                </a:solidFill>
                <a:latin typeface="Calibri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Microsoft 365 Copilot Masterclass  ·  C27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