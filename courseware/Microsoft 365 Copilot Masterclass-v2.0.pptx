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 work orders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Woodlands Hub</c:v>
                </c:pt>
                <c:pt idx="1">
                  <c:v>Jurong Depot</c:v>
                </c:pt>
                <c:pt idx="2">
                  <c:v>Tampines Centre</c:v>
                </c:pt>
                <c:pt idx="3">
                  <c:v>Changi Workshop</c:v>
                </c:pt>
                <c:pt idx="4">
                  <c:v>Paya Lebar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NON-WSQ COURSE  •  C27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Version v2.0  ·  13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Microsoft 365 Copilot Masterclass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UEN: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Welcome &amp; Housekeeping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Your name, role and one maintenance reporting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app holds the work-order source?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date and status definitions determine overdue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which Copilot buttons and skills menus are available in your assigned apps.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Learn by doing — try every hands-on lab.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Access Course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C27 course page or the trainer-supplied Drive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courseware links for this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Download the Slides, Learner Guide and Lesson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labs folder for all 8 lab folders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Keep the files together as you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Course page:  https://www.tertiarycourses.com.sg/microsoft-365-copilot-masterclass.html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Lesson Plan — 1 Day, 7.5 instructional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Course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Day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1: Fundamentals of Microsoft 365 Copilot (Labs 1–2)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2: Create Skills for Microsoft 365 Copilot (Labs 3–4)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3: Create an Interactive Dashboard with Excel Copilot (Labs 5–6)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4: Create a Professional Presentation with PowerPoint Copilot (Labs 7–8)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9:30 am - 6:30 pm (1-hour lunch; two 15-minute tea breaks; 7.5 instructional hours)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Instructional time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7.5 hours · 8 connected labs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Concept → demonstrate → build → verify → discuss →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Create, install, apply and improve a custom maintenance-reporting skill in Excel and PowerPoint, preserving source records and testing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 interactive maintenance dashboard with verified measures, common filter scope, meaningful charts and a demonstrated refresh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How You'll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demonstrates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 build it yourself in the hands-on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with the lab's 'Test it'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Discuss and troubleshoot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Recap against the learning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Fundamentals of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One verified maintenance workflow across four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Select actual sources in every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Work orders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IDs, status, category, site and current assignment.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Prompts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Goal, context, source and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 Word, Excel, slides and draft email.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Excel to Word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Prepare Work Orders and Draft the Operations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Word to PowerPoint and Outlook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the Cross-App Maintenance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CONNECTED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Northstar Maintenance Evidence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Excel: clean and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Word: operations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PowerPoint: decision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Outlook: reviewed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Work Order Has State, Scope and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WO-2026-0003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Woodlands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HVAC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Chloe Goh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Current owner is evidence. Proposed owner is a separate planning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Grounding gives an AI request the specific evidence it should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maintenance figure can be correct in Excel yet become wrong in an email when the source, reporting date or filter scope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analyses tblWorkOrders; Word receives the checked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the authoritative work-order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goal, context, source and expected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against the named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Pass a verified snapshot to the next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PowerPoint receives the reviewed Word brief; Outlook receives the same checked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Excel chat transcript is not an automatic PowerPoint data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row represents one work order, identified by Work_Order_ID.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exact duplicated export row changes counts and cost without representing new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122 raw rows contain 120 distinct work-order 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one ID per work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exact repeated export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 labels without inventing 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cleaned counts and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Total = Closed + Cancelled + Backlog after exact duplicate removal.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Due on 30 September is not overdue at the 30 September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THEME · EXCEL TO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Prepare Work Orders and Draft the Operations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You are Northstar Facilities’ maintenance coordinator. A Q3 export contains repeated IDs and inconsistent category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Northstar_Clean_Work_Orders.xlsx and Northstar_Operations_Brief.docx, with reconciled counts, reporting scope and a source register.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Count unique work-order IDs and reconcile backlog using the fixed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Word: Draft an operations brief from the checked evidence; label proposals and unknowns.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Clean table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Work_Order_ID rows; five canonical job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Portfolio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= 48 Closed + 12 Cancelled + 60 backlog.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handoff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50; unassigned backlog 6; total cost S$35,827.50. Word agrees with Excel.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No guessed owner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Blank assignments remain blank; proposals labelled unapproved.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useful prompt combines the intended goal, operational context, named source and output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number may have different meaning when a chart counts all work orders while an email calls it open backlog.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Goal: draft a maintenance update for the operations manager.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the goal and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Attach or select the actual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Specify definitions and missing-value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the returned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Source: reviewed Northstar operations brief, all filters All,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Expectation: label assignment suggestions as proposals and leave unknown approvals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help structure a draft email from supplied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apparently routine update can accidentally promise technician reassignment or imply that a manager approved a recovery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Current owner blank; proposed owner Aisha remains unapproved.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the synthetic thread and checked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Draft a concise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recipients, facts and action wording.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 unsent draft and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draft addressed to example.invalid is a training artifact.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handoff says decision requested, not decision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THEME · WORD TO POWERPOINT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the Cross-App Maintenance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verified operations brief from Lab 1. You will turn it into an initial PowerPoint update, then prepare an Outlook reply to a synthetic maintenance thread.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Northstar_Initial_Update.pptx, an unsent Outlook draft and Northstar_Cross_App_Evidence.csv with Excel, Word, PowerPoint and Outlook figures reconciled.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Turn the reviewed brief into a four-slide update with source/date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Outlook: Draft the maintenance reply from the same checked values; keep it unsent.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Four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Excel Checks, Word brief, four-slide update and unsent Outlook draft share the same date and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Cross-app grounding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Named file or pasted verified evidence is provided in each app; no assumed shared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example.invalid recipient; nothing sent and no assignment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LO1: Same work-order evidence across four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120 clean IDs and reconciled brief/update/draft.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Skills for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A reusable method for Excel and PowerPoint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Create Skills for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SKILL.md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Matching folder/name and reusable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Discovery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Install and verify separately in each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Repeatability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Input guards and controlled reruns.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Proposals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Preserve source owners and evidence boundaries.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Create Skills for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Author SKILL.md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 Custom Maintenance Reporting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Repeatable reporting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Use and Improve the Skill in Excel and PowerPoint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SKILL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Anatomy of the Maintenance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name +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556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When should Copilot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32304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42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table or snapshot + date +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420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evidence is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18688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28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definitions + source preservation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284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How should measures be calculated?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05072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14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summary / charts / proposals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Which named areas may change?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91456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011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counts + denominators + reruns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011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proves the result?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prompt is one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makes stable definitions and review boundaries reusable: backlog excludes two terminal statuses, overdue uses a fixed date, missing owners stay missing and output reruns do not duplicate sheets.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maintenance-reporting contains definitions and output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a recurring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Separate stable rules from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name, description and instructions.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Install, invoke and inspect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Each request still supplies this month’s source, date and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Native skill use and pasted manual instructions are recorded differently.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uses its Manage plugins &amp; skills interface and an app-created OneDrive skills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Folder-name/frontmatter mismatches, an extra .txt extension, unavailable licence features and disabled skills can all prevent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 maintenance-reporting matches YAML name maintenance-reporting.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complete UTF-8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app-created skills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and verify the matching 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and record a smoke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Excel and PowerPoint both show the skill before native invocation.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If a menu is absent, manual practice is labelled feature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THEME · AUTHOR 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a Custom Maintenance Reporting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Capture the maintenance definitions and reporting style as one custom skill. You will ask Microsoft 365 Copilot on the web to write SKILL.md, compare it with a supplied complete template, install it in each app’s own supported skills location, and perform a small smoke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A reviewed maintenance-reporting/SKILL.md v1, a smoke-test record, and a native-skill or explicitly labelled manual-practice route for each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Web Copilot: Write complete maintenance-reporting SKILL.md with input guards and reporting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 / PowerPoint: @maintenance-reporting Explain your inputs and output boundaries before making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 format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maintenance-reporting folder; matching name in YAML; nonempty description; UTF-8 SKILL.md.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Metric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excludes two terminal statuses; due-today not overdue; zero closed -&gt; N/A.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Installation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Excel and PowerPoint names verified separately, or manual route honestly recorded.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REPEATABLE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Skill Improves Through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v1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on verified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one concrete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v2 + repeat the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Repeatability means the same verified inputs and method yield equivalent business measures and a controlled output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Reporting skills may be used every week or month, so uncontrolled output accumulation quickly creates conflicting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120 source IDs remain 120 after rerunning Maintenance_Summary.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Capture the source fingerprint and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a reviewed rerun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only named output 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source and measures again.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Missing report date causes a clarification request, not invented numbers.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second output sheet is a defect when replacement was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Assignment planning combines the work category, existing owner, estimated hours, technician primary category and available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skill can improve Excel analysis and PowerPoint wording by preserving this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Unassigned work is counted only within nonterminal statuses.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unassigned backlog.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category and available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proposal and assumptions.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the manager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 hours minus proposed effort is a planning check.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source Assigned_To stays unchanged until a real authorised operational update.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THEME · REPEATABLE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Use and Improve the Skill in Excel and PowerPoint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the Lab 3 skill to create a verified summary and improve the initial PowerPoint update. Then deliberately test missing inputs and a rerun, tighten the skill to v2, and compare before/after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Northstar_Skill_Report.xlsx with Maintenance_Summary and Assignment_Proposals, Northstar_Skill_Update.pptx, SKILL.md v2 and a before/after improvement 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@maintenance-reporting Build the verified summary and separate assignment proposals.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@maintenance-reporting Improve the existing four-slide update; preserve facts and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preserved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orders; current owner/status unchanged.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 outputs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60; overdue 50; on-time closed 30/48; cost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Improvement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Input guard and rerun tested; v1/v2 retained; PowerPoint four-slide output accurate.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Create Skills for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LO2: Skill authoring, discovery, use and revision proven.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Preserved source plus missing-input and rerun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an Interactive Dashboard with Excel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From definitions to filters and refresh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an Interactive Dashboard with Excel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Measures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Counts, backlog, overdue, on-time rate and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Visuals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Choose charts by maintenance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One filter scope for every chart and KPI.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Refresh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Known deltas in an isolated test copy.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an Interactive Dashboard with Excel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Design and build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Build Maintenance Dashboard Measures and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Filters and refresh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Make the Dashboard Interactive and Prove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WORKED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Northstar Portfolio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Overdue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On-time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30/48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Recorded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S$35,828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Backlog by Site: Count the Nonterminal 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691640"/>
          <a:ext cx="10332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measure needs a business definition, numerator, denominator where relevant, date rule and filter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Changing the denominator can make an attractive rate meaningless.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Closed-only rate is different from closed/total completion share.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 fields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Compute count and denominator.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Handle empty selections explicitly.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against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due-today backlog item is not overdue under a strict before-date rule.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selected status/chart counts reconcile to total selected work 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should make an operational decision easier.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chart scales, short labels, whitespace and limited accents help a manager compare the work queue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Status count chart shows the portfolio mix.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maintenance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the measure and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an appropriate labelled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meaning and readability.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Site backlog chart excludes Closed and Cancelled.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category count does not establish the root cause of overdue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THEME · DESIGN AND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Build Maintenance Dashboard Measures and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Use Excel Copilot to plan a maintenance dashboard for operations managers. Define the measures before designing the charts, then build source-linked KPI cards and a status, category and site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a Dashboard layout, six verified measures, three labelled charts and a measure dictionary ready for Lab 6 filters.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Plan six dashboard measures and three charts from tblWorkOrders; preserve source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Explain the closed-only SLA denominator and verify it against source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120; backlog 60; overdue 50; closed 48.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SLA and cost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30/48 = 62.5%;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reconciliation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Three count summaries each total 120; formulas reference tblWorkOrders.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design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Measures dictionary and source/date visible; no unsupported cause claims.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Same Data, Different Filter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All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30/48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Woodlands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10/16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Interactive means a learner-controlled selection changes the evidence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can appear interactive while only one chart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Woodlands Hub plus All in other selectors isolates that site.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the selector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same AND mask everywhere.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each control and edge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selected chart and KPI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Status New gives zero Closed and N/A closure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slicer must connect to every intended PivotTable.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refresh test deliberately introduces known new records and verifies the expected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correct dashboard today may fail after the next export if formulas reference a fixed cell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Two test rows increase total by2 and recorded cost byS$400.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an isolated sandbox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Append known unique test 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and verify expected deltas.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Handoff the untouched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Only one new row adds to backlog/overdue; the other adds to on-time Closed.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deck uses the untouched 120-row baseline, not the test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THEME · FILTERS 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Make the Dashboard Interactive and Prove Refresh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Lab 5 by making four dropdown selectors control every KPI and chart. Test a single site, a zero-denominator selection and a combined category/owner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four working filters plus Northstar_Dashboard_Refresh_Test.xlsx, filter evidence and a verified baseline snapshot for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Apply Site, Category, Status and Owner selections to every KPI and 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Excel: Verify the sandbox append adds 2 orders and S$400 without changing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Woodlands 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24; backlog 8; overdue 7; closed 16; cost S$6,668.50; on-time 10/16.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Changing any of four filters affects all six KPI measures and all chart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Edge case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Closed -&gt; N/A; no rows -&gt; zero count/cost and N/A 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Refresh sandbox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122 total;49 closed;61 backlog;51 overdue;S$36,227.50;31/49 on-time.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Handoff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Return to 120-row untouched baseline; date and All scope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Create an Interactive Dashboard with Excel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LO3: Six measures and three charts share four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Baseline controls and known refresh deltas.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 Professional Presentation with PowerPoint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Continue the dashboard into a decision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Evidence story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Observation, implication, action and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Charts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Reviewed values, provenance and snapshot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Refinement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Hierarchy, notes and actual rehearsal feedback.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Reconciled pack and unsent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Dashboard to presentation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Turn Dashboard Evidence into a Management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Professional handoff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Refine and Present the Maintenance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TO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Verified Chart Becomes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Observed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Operational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Proposed recovery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Manager decision requested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management presentation transforms evidence into a sequence of observations, implications, proposed actions and a decision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accelerate outlines and drafting, but a persuasive invented conclusion is still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Backlog by site supports prioritisation, not a proven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Freeze the verified dashboard snapshot.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Register each proposed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reviewed Word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Generate and reconcile the deck.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Available-hours evidence supports a capacity discussion, not confirmed allocation.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slide asks management to decide on a proposed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template supplies slide layouts, typography and colours; it does not supply correct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Approximate AI-generated charts can contradict source values while looking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editable embedded chart remains a copy rather than a tested live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Select the reviewed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existing template.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Insert verified charts or tables.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source and snapshot scope.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image is labelled as a snapshot at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eight slides use one reviewed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THEME · DASHBOARD TO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Turn Dashboard Evidence into a Management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baseline dashboard from Topic 3. Build a slide evidence register and a Word presentation brief before asking PowerPoint Copilot for an eight-slide management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Northstar_Presentation_Brief.docx, Northstar_Management_Draft.pptx and a slide-by-slide evidence register tied to the 120-row dashboard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Word: Create an eight-slide brief with one checked claim, source and limitation per slide.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@maintenance-reporting Build the management deck from the reviewed Word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Every deck figure maps to the 120-row Lab 6 baseline and slide evidence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Eight-slide narrative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Observation -&gt; implication -&gt; proposed action -&gt; decision; no invented cause/savings.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semantics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charts exclude Closed/Cancelled; embedded/image copies labelled snapshot.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ARTIFACT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Maintenance Reporting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Interactive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Dated Word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Static PPTX +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Reviewed unsent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Refinement improves the clarity of the existing evidence without changing its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well-designed deck can still fail when the speaker’s notes contain different numbers or a proposal is spoken as an approved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One message per slide; chart labels remain readable.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Audit the draft against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reviewed design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Rehearse and record actual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PPTX and exported PDF.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45-second note explains evidence and limitation.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Partner feedback leads to one recorded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final pack contains an interactive Excel dashboard, a fixed reporting brief, a static PowerPoint/PDF snapshot, the custom skill and a reviewed communication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Updating one artifact without the others creates inconsistent communication.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PowerPoint and PDF both show eight slides/pages from the same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final artifacts.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actual filenames and links.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the handoff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Preserve the dated snapshot and skill.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Outlook does not claim a missing attachment was sent.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next update reruns the method with new verified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THEME · PROFESSIONAL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Refine and Present the Maintenance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Refine the management deck using the same custom skill and reviewed dashboard evidence. Improve hierarchy, consistency and speaker notes, test the story in a short rehearsal, and prepare a reviewed Outlook handoff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Northstar_Management_Final.pptx/PDF, a rehearsal record, final evidence register and unsent Outlook handoff draft with accurate artifact links.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PowerPoint: @maintenance-reporting Audit and refine the eight-slide deck without changing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Outlook: Draft the handoff with real supplied links and the static-snapshot limitation.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Presentation 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Eight slides and eight PDF pages; visible figures agree with verified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delivery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Readable chart labels, consistent design, evidence-specific notes and actual rehearsal improvement.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Final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Baseline dashboard, brief, deck and unsent draft agree; static snapshot stated.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real email sent or work order reassigned; proposed actions remain proposed.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Recap -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LO4: Eight-slide evidence story and reviewed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PDF, notes, register and actual rehearsal agree.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Course 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Create, install, apply and improve a custom maintenance-reporting skill in Excel and PowerPoint, preserving source records and testing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 interactive maintenance dashboard with verified measures, common filter scope, meaningful charts and a demonstrated refresh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Your Next Maintenance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a copy and a new explicit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16224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16224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Supply verified source/date/scope and test skill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03648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3648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Reconcile every claim and decision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Keep Practising After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Re-run the labs on your own machine — repetition is what makes the skills stick.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the techniques to a real process or project in your own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your downloaded C27 course files and use the lab checkpoints to restart safely.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Explore the follow-on courses at www.tertiarycourses.com.sg.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THANK YOU FOR ATTENDING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8503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9B4A9"/>
                </a:solidFill>
                <a:latin typeface="Calibri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