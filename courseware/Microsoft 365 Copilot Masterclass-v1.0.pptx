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Microsoft 365 Copilot Masterclass</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C027</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29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TRAINERS LISTED FOR C027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Course Trainer Profiles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4187952"/>
          </a:xfrm>
          <a:prstGeom prst="rect">
            <a:avLst/>
          </a:prstGeom>
          <a:noFill/>
        </p:spPr>
        <p:txBody>
          <a:bodyPr wrap="square" anchor="ctr">
            <a:spAutoFit/>
          </a:bodyPr>
          <a:lstStyle/>
          <a:p>
            <a:pPr algn="l">
              <a:spcAft>
                <a:spcPts val="300"/>
              </a:spcAft>
            </a:pPr>
            <a:r>
              <a:rPr sz="1700" b="1">
                <a:solidFill>
                  <a:srgbClr val="161B26"/>
                </a:solidFill>
                <a:latin typeface="Arial"/>
              </a:rPr>
              <a:t>Kesston Tang</a:t>
            </a:r>
          </a:p>
          <a:p>
            <a:pPr algn="l">
              <a:spcAft>
                <a:spcPts val="300"/>
              </a:spcAft>
            </a:pPr>
            <a:r>
              <a:rPr sz="1300" b="0">
                <a:solidFill>
                  <a:srgbClr val="5B6372"/>
                </a:solidFill>
                <a:latin typeface="Arial"/>
              </a:rPr>
              <a:t>Consultant and trainer with experience in business analysis, negotiation, corporate advisory and stakeholder communication.</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4187952"/>
          </a:xfrm>
          <a:prstGeom prst="rect">
            <a:avLst/>
          </a:prstGeom>
          <a:noFill/>
        </p:spPr>
        <p:txBody>
          <a:bodyPr wrap="square" anchor="ctr">
            <a:spAutoFit/>
          </a:bodyPr>
          <a:lstStyle/>
          <a:p>
            <a:pPr algn="l">
              <a:spcAft>
                <a:spcPts val="300"/>
              </a:spcAft>
            </a:pPr>
            <a:r>
              <a:rPr sz="1700" b="1">
                <a:solidFill>
                  <a:srgbClr val="161B26"/>
                </a:solidFill>
                <a:latin typeface="Arial"/>
              </a:rPr>
              <a:t>Angel Koh</a:t>
            </a:r>
          </a:p>
          <a:p>
            <a:pPr algn="l">
              <a:spcAft>
                <a:spcPts val="300"/>
              </a:spcAft>
            </a:pPr>
            <a:r>
              <a:rPr sz="1300" b="0">
                <a:solidFill>
                  <a:srgbClr val="5B6372"/>
                </a:solidFill>
                <a:latin typeface="Arial"/>
              </a:rPr>
              <a:t>Technology practitioner and trainer with extensive experience designing information systems and applying emerging digital tools.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name, organisation and role.</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One Microsoft 365 task that repeatedly consumes time.</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One output you would never share without checking it first.</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Which Copilot entry points you can see in Chat, Word, PowerPoint, Excel, Outlook and Teams.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MATERIALS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Access Course Materials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C027 course page or the trainer-supplied Drive folder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courseware links for this course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Learner Guide and Lesson Plan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Activities folder for all eight labs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 files together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500" b="1">
                <a:solidFill>
                  <a:srgbClr val="1F6FEB"/>
                </a:solidFill>
                <a:latin typeface="Arial"/>
              </a:rPr>
              <a:t>Course page:  tertiarycourses.com.sg/microsoft-365-copilot-masterclass.html</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Lesson Plan — 1 Day, 7.5 instructional hours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Course sequence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format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Ground, create, analyse, coordinate and govern one connected Microsoft 365 Copilot workflow</a:t>
            </a:r>
          </a:p>
          <a:p>
            <a:pPr>
              <a:spcAft>
                <a:spcPts val="1000"/>
              </a:spcAft>
            </a:pPr>
            <a:r>
              <a:rPr sz="1400" b="0">
                <a:solidFill>
                  <a:srgbClr val="5B6372"/>
                </a:solidFill>
                <a:latin typeface="Arial"/>
              </a:rPr>
              <a:t>–  Topic 1: Getting Started with Microsoft 365 Copilot (Labs 1–3)</a:t>
            </a:r>
          </a:p>
          <a:p>
            <a:pPr>
              <a:spcAft>
                <a:spcPts val="1000"/>
              </a:spcAft>
            </a:pPr>
            <a:r>
              <a:rPr sz="1400" b="0">
                <a:solidFill>
                  <a:srgbClr val="5B6372"/>
                </a:solidFill>
                <a:latin typeface="Arial"/>
              </a:rPr>
              <a:t>–  Topic 2: Copilot Across Your Everyday Work Apps (Labs 4–8)</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 am - 6:30 pm (1-hour lunch; two 15-minute tea breaks; 7.5 instructional hours)</a:t>
            </a:r>
          </a:p>
          <a:p>
            <a:pPr>
              <a:spcAft>
                <a:spcPts val="1000"/>
              </a:spcAft>
            </a:pPr>
            <a:r>
              <a:rPr sz="1600" b="0">
                <a:solidFill>
                  <a:srgbClr val="161B26"/>
                </a:solidFill>
                <a:latin typeface="Arial"/>
              </a:rPr>
              <a:t>•  Instructional time</a:t>
            </a:r>
          </a:p>
          <a:p>
            <a:pPr>
              <a:spcAft>
                <a:spcPts val="1000"/>
              </a:spcAft>
            </a:pPr>
            <a:r>
              <a:rPr sz="1400" b="0">
                <a:solidFill>
                  <a:srgbClr val="5B6372"/>
                </a:solidFill>
                <a:latin typeface="Arial"/>
              </a:rPr>
              <a:t>–  7.5 hours · 8 connected labs</a:t>
            </a:r>
          </a:p>
          <a:p>
            <a:pPr>
              <a:spcAft>
                <a:spcPts val="1000"/>
              </a:spcAft>
            </a:pPr>
            <a:r>
              <a:rPr sz="1600" b="0">
                <a:solidFill>
                  <a:srgbClr val="161B26"/>
                </a:solidFill>
                <a:latin typeface="Arial"/>
              </a:rPr>
              <a:t>•  Learning arc</a:t>
            </a:r>
          </a:p>
          <a:p>
            <a:pPr>
              <a:spcAft>
                <a:spcPts val="1000"/>
              </a:spcAft>
            </a:pPr>
            <a:r>
              <a:rPr sz="1400" b="0">
                <a:solidFill>
                  <a:srgbClr val="5B6372"/>
                </a:solidFill>
                <a:latin typeface="Arial"/>
              </a:rPr>
              <a:t>–  Concept → demonstrate → build → verify → discuss → recap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Ground &amp; Prompt</a:t>
            </a:r>
          </a:p>
          <a:p>
            <a:pPr algn="l">
              <a:spcAft>
                <a:spcPts val="300"/>
              </a:spcAft>
            </a:pPr>
            <a:r>
              <a:rPr sz="1300" b="0">
                <a:solidFill>
                  <a:srgbClr val="5B6372"/>
                </a:solidFill>
                <a:latin typeface="Arial"/>
              </a:rPr>
              <a:t>Explain how Microsoft 365 Copilot grounds responses, apply a structured prompt method and verify a source-backed research summary in Copilot Chat.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Write &amp; Present</a:t>
            </a:r>
          </a:p>
          <a:p>
            <a:pPr algn="l">
              <a:spcAft>
                <a:spcPts val="300"/>
              </a:spcAft>
            </a:pPr>
            <a:r>
              <a:rPr sz="1300" b="0">
                <a:solidFill>
                  <a:srgbClr val="5B6372"/>
                </a:solidFill>
                <a:latin typeface="Arial"/>
              </a:rPr>
              <a:t>Draft, rewrite and validate a business document in Word, then generate and refine a presentation in PowerPoint from the approved document.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Analyse &amp; Communicate</a:t>
            </a:r>
          </a:p>
          <a:p>
            <a:pPr algn="l">
              <a:spcAft>
                <a:spcPts val="300"/>
              </a:spcAft>
            </a:pPr>
            <a:r>
              <a:rPr sz="1300" b="0">
                <a:solidFill>
                  <a:srgbClr val="5B6372"/>
                </a:solidFill>
                <a:latin typeface="Arial"/>
              </a:rPr>
              <a:t>Analyse a bounded dataset and generate formulas in Excel, then summarise a synthetic email thread and prepare a reviewed response in Outlook.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Coordinate &amp; Govern</a:t>
            </a:r>
          </a:p>
          <a:p>
            <a:pPr algn="l">
              <a:spcAft>
                <a:spcPts val="300"/>
              </a:spcAft>
            </a:pPr>
            <a:r>
              <a:rPr sz="1300" b="0">
                <a:solidFill>
                  <a:srgbClr val="5B6372"/>
                </a:solidFill>
                <a:latin typeface="Arial"/>
              </a:rPr>
              <a:t>Produce a Teams meeting recap and action register, connect outputs across Microsoft 365 apps, and apply responsible-use, privacy and human-review controls.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The Traceable Copilot Work System</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Four Layers Visible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Source</a:t>
            </a:r>
          </a:p>
          <a:p>
            <a:pPr algn="l">
              <a:spcAft>
                <a:spcPts val="300"/>
              </a:spcAft>
            </a:pPr>
            <a:r>
              <a:rPr sz="1300" b="0">
                <a:solidFill>
                  <a:srgbClr val="5B6372"/>
                </a:solidFill>
                <a:latin typeface="Arial"/>
              </a:rPr>
              <a:t>The approved file, table, thread, transcript or web page that governs the facts.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Prompt</a:t>
            </a:r>
          </a:p>
          <a:p>
            <a:pPr algn="l">
              <a:spcAft>
                <a:spcPts val="300"/>
              </a:spcAft>
            </a:pPr>
            <a:r>
              <a:rPr sz="1300" b="0">
                <a:solidFill>
                  <a:srgbClr val="5B6372"/>
                </a:solidFill>
                <a:latin typeface="Arial"/>
              </a:rPr>
              <a:t>Goal, Context, Source and Expectations, including exclusions and review criteria.</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Proposal</a:t>
            </a:r>
          </a:p>
          <a:p>
            <a:pPr algn="l">
              <a:spcAft>
                <a:spcPts val="300"/>
              </a:spcAft>
            </a:pPr>
            <a:r>
              <a:rPr sz="1300" b="0">
                <a:solidFill>
                  <a:srgbClr val="5B6372"/>
                </a:solidFill>
                <a:latin typeface="Arial"/>
              </a:rPr>
              <a:t>The generated summary, draft, formula, slide, action or change that still needs review.</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Release</a:t>
            </a:r>
          </a:p>
          <a:p>
            <a:pPr algn="l">
              <a:spcAft>
                <a:spcPts val="300"/>
              </a:spcAft>
            </a:pPr>
            <a:r>
              <a:rPr sz="1300" b="0">
                <a:solidFill>
                  <a:srgbClr val="5B6372"/>
                </a:solidFill>
                <a:latin typeface="Arial"/>
              </a:rPr>
              <a:t>The named reviewer, verification evidence, decision and approved destination.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G-C-S-E Prompt Framework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Goal</a:t>
            </a:r>
          </a:p>
          <a:p>
            <a:pPr algn="l">
              <a:spcAft>
                <a:spcPts val="300"/>
              </a:spcAft>
            </a:pPr>
            <a:r>
              <a:rPr sz="1200" b="0">
                <a:solidFill>
                  <a:srgbClr val="5B6372"/>
                </a:solidFill>
                <a:latin typeface="Arial"/>
              </a:rPr>
              <a:t>What to create, decide, explain, compare or change.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Context</a:t>
            </a:r>
          </a:p>
          <a:p>
            <a:pPr algn="l">
              <a:spcAft>
                <a:spcPts val="300"/>
              </a:spcAft>
            </a:pPr>
            <a:r>
              <a:rPr sz="1200" b="0">
                <a:solidFill>
                  <a:srgbClr val="5B6372"/>
                </a:solidFill>
                <a:latin typeface="Arial"/>
              </a:rPr>
              <a:t>Audience, situation, terminology, time period and intended use.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Source</a:t>
            </a:r>
          </a:p>
          <a:p>
            <a:pPr algn="l">
              <a:spcAft>
                <a:spcPts val="300"/>
              </a:spcAft>
            </a:pPr>
            <a:r>
              <a:rPr sz="1200" b="0">
                <a:solidFill>
                  <a:srgbClr val="5B6372"/>
                </a:solidFill>
                <a:latin typeface="Arial"/>
              </a:rPr>
              <a:t>Named evidence, permitted scope and explicit exclusions.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Expectations</a:t>
            </a:r>
          </a:p>
          <a:p>
            <a:pPr algn="l">
              <a:spcAft>
                <a:spcPts val="300"/>
              </a:spcAft>
            </a:pPr>
            <a:r>
              <a:rPr sz="1200" b="0">
                <a:solidFill>
                  <a:srgbClr val="5B6372"/>
                </a:solidFill>
                <a:latin typeface="Arial"/>
              </a:rPr>
              <a:t>Format, tone, constraints, citations, uncertainty and checks.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C027 OPERATING PRINCIPLE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Copilot accelerates the proposal; the evidence and reviewer determine whether it is ready.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Ground every task, inspect every handoff and keep consequential release decisions with a named person.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Will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Evidence layer</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source register</a:t>
            </a:r>
          </a:p>
          <a:p>
            <a:pPr>
              <a:spcAft>
                <a:spcPts val="900"/>
              </a:spcAft>
            </a:pPr>
            <a:r>
              <a:rPr sz="1400" b="0">
                <a:solidFill>
                  <a:srgbClr val="161B26"/>
                </a:solidFill>
                <a:latin typeface="Arial"/>
              </a:rPr>
              <a:t>•  claim ledger</a:t>
            </a:r>
          </a:p>
          <a:p>
            <a:pPr>
              <a:spcAft>
                <a:spcPts val="900"/>
              </a:spcAft>
            </a:pPr>
            <a:r>
              <a:rPr sz="1400" b="0">
                <a:solidFill>
                  <a:srgbClr val="161B26"/>
                </a:solidFill>
                <a:latin typeface="Arial"/>
              </a:rPr>
              <a:t>•  verified Excel controls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Communication layer</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approved Word brief</a:t>
            </a:r>
          </a:p>
          <a:p>
            <a:pPr>
              <a:spcAft>
                <a:spcPts val="900"/>
              </a:spcAft>
            </a:pPr>
            <a:r>
              <a:rPr sz="1400" b="0">
                <a:solidFill>
                  <a:srgbClr val="161B26"/>
                </a:solidFill>
                <a:latin typeface="Arial"/>
              </a:rPr>
              <a:t>•  refined PowerPoint deck</a:t>
            </a:r>
          </a:p>
          <a:p>
            <a:pPr>
              <a:spcAft>
                <a:spcPts val="900"/>
              </a:spcAft>
            </a:pPr>
            <a:r>
              <a:rPr sz="1400" b="0">
                <a:solidFill>
                  <a:srgbClr val="161B26"/>
                </a:solidFill>
                <a:latin typeface="Arial"/>
              </a:rPr>
              <a:t>•  reviewed Outlook draft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Coordination layer</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Teams action register</a:t>
            </a:r>
          </a:p>
          <a:p>
            <a:pPr>
              <a:spcAft>
                <a:spcPts val="900"/>
              </a:spcAft>
            </a:pPr>
            <a:r>
              <a:rPr sz="1400" b="0">
                <a:solidFill>
                  <a:srgbClr val="161B26"/>
                </a:solidFill>
                <a:latin typeface="Arial"/>
              </a:rPr>
              <a:t>•  cross-app manifest</a:t>
            </a:r>
          </a:p>
          <a:p>
            <a:pPr>
              <a:spcAft>
                <a:spcPts val="900"/>
              </a:spcAft>
            </a:pPr>
            <a:r>
              <a:rPr sz="1400" b="0">
                <a:solidFill>
                  <a:srgbClr val="161B26"/>
                </a:solidFill>
                <a:latin typeface="Arial"/>
              </a:rPr>
              <a:t>•  responsible-use review log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Learning Arc in Every Lab</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Open the supplied checkpoint and state the intended outcome.</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Prompt Copilot with G-C-S-E and a bounded source.</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Inspect the generated proposal in the current app.</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Complete Test It, record the release state and save the checkpoint.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BEFORE AN OUTPUT LEAVES DRAFT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C027 Release Gate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Source</a:t>
            </a:r>
          </a:p>
          <a:p>
            <a:pPr algn="l">
              <a:spcAft>
                <a:spcPts val="300"/>
              </a:spcAft>
            </a:pPr>
            <a:r>
              <a:rPr sz="1200" b="0">
                <a:solidFill>
                  <a:srgbClr val="5B6372"/>
                </a:solidFill>
                <a:latin typeface="Arial"/>
              </a:rPr>
              <a:t>Are all material facts grounded in approved, current and accessible evidence?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Accuracy</a:t>
            </a:r>
          </a:p>
          <a:p>
            <a:pPr algn="l">
              <a:spcAft>
                <a:spcPts val="300"/>
              </a:spcAft>
            </a:pPr>
            <a:r>
              <a:rPr sz="1200" b="0">
                <a:solidFill>
                  <a:srgbClr val="5B6372"/>
                </a:solidFill>
                <a:latin typeface="Arial"/>
              </a:rPr>
              <a:t>Do dates, numbers, owners, formulas and commitments match the governing sources?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Sensitivity</a:t>
            </a:r>
          </a:p>
          <a:p>
            <a:pPr algn="l">
              <a:spcAft>
                <a:spcPts val="300"/>
              </a:spcAft>
            </a:pPr>
            <a:r>
              <a:rPr sz="1200" b="0">
                <a:solidFill>
                  <a:srgbClr val="5B6372"/>
                </a:solidFill>
                <a:latin typeface="Arial"/>
              </a:rPr>
              <a:t>Are permissions, labels, recipients and minimum-necessary data appropriate?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Quality</a:t>
            </a:r>
          </a:p>
          <a:p>
            <a:pPr algn="l">
              <a:spcAft>
                <a:spcPts val="300"/>
              </a:spcAft>
            </a:pPr>
            <a:r>
              <a:rPr sz="1200" b="0">
                <a:solidFill>
                  <a:srgbClr val="5B6372"/>
                </a:solidFill>
                <a:latin typeface="Arial"/>
              </a:rPr>
              <a:t>Does the output fit the audience, format, tone and accessibility needs?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Consistency</a:t>
            </a:r>
          </a:p>
          <a:p>
            <a:pPr algn="l">
              <a:spcAft>
                <a:spcPts val="300"/>
              </a:spcAft>
            </a:pPr>
            <a:r>
              <a:rPr sz="1200" b="0">
                <a:solidFill>
                  <a:srgbClr val="5B6372"/>
                </a:solidFill>
                <a:latin typeface="Arial"/>
              </a:rPr>
              <a:t>Do downstream files agree with the approved source register and each other?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Accountability</a:t>
            </a:r>
          </a:p>
          <a:p>
            <a:pPr algn="l">
              <a:spcAft>
                <a:spcPts val="300"/>
              </a:spcAft>
            </a:pPr>
            <a:r>
              <a:rPr sz="1200" b="0">
                <a:solidFill>
                  <a:srgbClr val="5B6372"/>
                </a:solidFill>
                <a:latin typeface="Arial"/>
              </a:rPr>
              <a:t>Is a named reviewer choosing Approved, Revise or Hold with limitations visible?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Getting Started with Microsoft 365 Copilot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How Copilot works · effective prompts · Copilot Chat research · Word drafting and rewriting · PowerPoint generation and refinement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First half · 3 connected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Getting Started with Microsoft 365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Orchestration and grounding</a:t>
            </a:r>
          </a:p>
          <a:p>
            <a:pPr algn="l">
              <a:spcAft>
                <a:spcPts val="300"/>
              </a:spcAft>
            </a:pPr>
            <a:r>
              <a:rPr sz="1200" b="0">
                <a:solidFill>
                  <a:srgbClr val="5B6372"/>
                </a:solidFill>
                <a:latin typeface="Arial"/>
              </a:rPr>
              <a:t>Copilot combines the instruction, permitted work context and app capability before a model proposes a response.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G-C-S-E prompts</a:t>
            </a:r>
          </a:p>
          <a:p>
            <a:pPr algn="l">
              <a:spcAft>
                <a:spcPts val="300"/>
              </a:spcAft>
            </a:pPr>
            <a:r>
              <a:rPr sz="1200" b="0">
                <a:solidFill>
                  <a:srgbClr val="5B6372"/>
                </a:solidFill>
                <a:latin typeface="Arial"/>
              </a:rPr>
              <a:t>State Goal, Context, Source and Expectations so the task, evidence boundary and output contract are visible.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Source-backed research</a:t>
            </a:r>
          </a:p>
          <a:p>
            <a:pPr algn="l">
              <a:spcAft>
                <a:spcPts val="300"/>
              </a:spcAft>
            </a:pPr>
            <a:r>
              <a:rPr sz="1200" b="0">
                <a:solidFill>
                  <a:srgbClr val="5B6372"/>
                </a:solidFill>
                <a:latin typeface="Arial"/>
              </a:rPr>
              <a:t>Treat generated summaries as claims to trace, compare and approve rather than as automatic truth.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Word review loop</a:t>
            </a:r>
          </a:p>
          <a:p>
            <a:pPr algn="l">
              <a:spcAft>
                <a:spcPts val="300"/>
              </a:spcAft>
            </a:pPr>
            <a:r>
              <a:rPr sz="1200" b="0">
                <a:solidFill>
                  <a:srgbClr val="5B6372"/>
                </a:solidFill>
                <a:latin typeface="Arial"/>
              </a:rPr>
              <a:t>Draft, inspect, rewrite a bounded selection, compare against the brief and approve the document.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Document-to-deck handoff</a:t>
            </a:r>
          </a:p>
          <a:p>
            <a:pPr algn="l">
              <a:spcAft>
                <a:spcPts val="300"/>
              </a:spcAft>
            </a:pPr>
            <a:r>
              <a:rPr sz="1200" b="0">
                <a:solidFill>
                  <a:srgbClr val="5B6372"/>
                </a:solidFill>
                <a:latin typeface="Arial"/>
              </a:rPr>
              <a:t>Use an approved Word file as the PowerPoint source, then check structure, facts, visuals and speaker notes.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Availability awareness</a:t>
            </a:r>
          </a:p>
          <a:p>
            <a:pPr algn="l">
              <a:spcAft>
                <a:spcPts val="300"/>
              </a:spcAft>
            </a:pPr>
            <a:r>
              <a:rPr sz="1200" b="0">
                <a:solidFill>
                  <a:srgbClr val="5B6372"/>
                </a:solidFill>
                <a:latin typeface="Arial"/>
              </a:rPr>
              <a:t>Licensing, organisational policy, platform and update channel can change which Copilot controls are visible.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Introduction to Microsoft 365 Copilot and How It 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Microsoft 365 Copilot is an AI-powered work assistant integrated with Microsoft 365 apps. For a signed-in user it can combine the prompt, permitted organisational context from Microsoft Graph, optional web grounding and the capabilities of the current app. The large language model proposes an output; Microsoft 365 then returns it to the user for review.</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useful response depends on both the instruction and the information available to ground it. Copilot does not receive unlimited visibility into a tenant: it works within the signed-in user's permissions. Weak source access can produce an incomplete answer, while excessive sharing can expose information that the user was already allowed to find.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Introduction to Microsoft 365 Copilot and How It 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The user states a task in Copilot Chat or inside a Microsoft 365 app.</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Copilot interprets the instruction and retrieves permitted context from named files, current app content, work data or the web when enabled.</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The model generates a proposal; the app presents the response, citations, draft or editable change for human inspection.</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The user checks source coverage, accuracy, tone, permissions and downstream consequences before keeping or sharing it.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Introduction to Microsoft 365 Copilot and How It 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An operations coordinator asks for a launch summary using an approved brief and a decision log.</a:t>
            </a:r>
          </a:p>
          <a:p>
            <a:pPr>
              <a:spcAft>
                <a:spcPts val="1000"/>
              </a:spcAft>
            </a:pPr>
            <a:r>
              <a:rPr sz="1600" b="0">
                <a:solidFill>
                  <a:srgbClr val="161B26"/>
                </a:solidFill>
                <a:latin typeface="Arial"/>
              </a:rPr>
              <a:t>•  Copilot grounds the response only in files the coordinator can access and returns a draft with source references.</a:t>
            </a:r>
          </a:p>
          <a:p>
            <a:pPr>
              <a:spcAft>
                <a:spcPts val="1000"/>
              </a:spcAft>
            </a:pPr>
            <a:r>
              <a:rPr sz="1600" b="0">
                <a:solidFill>
                  <a:srgbClr val="161B26"/>
                </a:solidFill>
                <a:latin typeface="Arial"/>
              </a:rPr>
              <a:t>•  The coordinator notices one missing decision, adds the correct source and regenerates before approving the summary.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task and evidence boundary are clear, the user has legitimate access and a person can review the output.</a:t>
            </a:r>
          </a:p>
          <a:p>
            <a:pPr>
              <a:spcAft>
                <a:spcPts val="1000"/>
              </a:spcAft>
            </a:pPr>
            <a:r>
              <a:rPr sz="1400" b="0">
                <a:solidFill>
                  <a:srgbClr val="5B6372"/>
                </a:solidFill>
                <a:latin typeface="Arial"/>
              </a:rPr>
              <a:t>–  A draft, summary, comparison or first-pass structure will accelerate work without removing accountability.</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task would disclose information to an unintended audience or relies on content the user should not access.</a:t>
            </a:r>
          </a:p>
          <a:p>
            <a:pPr>
              <a:spcAft>
                <a:spcPts val="1000"/>
              </a:spcAft>
            </a:pPr>
            <a:r>
              <a:rPr sz="1400" b="0">
                <a:solidFill>
                  <a:srgbClr val="5B6372"/>
                </a:solidFill>
                <a:latin typeface="Arial"/>
              </a:rPr>
              <a:t>–  An unchecked output would trigger a high-impact financial, legal, safety, employment or customer decision.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Introduction to Microsoft 365 Copilot and How It 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Permission</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Confirm the signed-in identity and whether every referenced source is appropriate for the task.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Grounding</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Name the source and distinguish retrieved evidence from generated connective language.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Review</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Check the response against the original files before accepting, editing or sharing it.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Writing Effective Prompts for Better Results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prompt is the instruction and context supplied to Copilot. The C027 method uses four elements: Goal states the outcome; Context explains the audience and situation; Source sets the evidence boundary; Expectations define format, tone, constraints and review criteria. A clear goal is essential, while the other elements reduce ambiguity and improve control.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Vague prompts shift important choices to the model. A visible prompt contract makes it easier to compare the result with what was requested, identify missing evidence and refine only the weak element. Effective prompting is iterative: ask, inspect, point to the gap and follow up.</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Writing Effective Prompts for Better Results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Goal: use one action verb and name the decision, artifact or change required.</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Context: state the audience, business situation, time period, terminology and intended use.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Source: name the files, thread, meeting, table or approved web sources to use and any sources to exclude.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Expectations: specify structure, length, tone, units, citation needs, uncertainty labels and acceptance checks.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Review the response, then use a focused follow-up instead of restarting with another vague prompt.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Writing Effective Prompts for Better Results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Goal: create a one-page launch brief for department heads.</a:t>
            </a:r>
          </a:p>
          <a:p>
            <a:pPr>
              <a:spcAft>
                <a:spcPts val="1000"/>
              </a:spcAft>
            </a:pPr>
            <a:r>
              <a:rPr sz="1600" b="0">
                <a:solidFill>
                  <a:srgbClr val="161B26"/>
                </a:solidFill>
                <a:latin typeface="Arial"/>
              </a:rPr>
              <a:t>•  Context: the Asteron client portal pilot begins on 18 August and leaders need decisions, owners and risks.</a:t>
            </a:r>
          </a:p>
          <a:p>
            <a:pPr>
              <a:spcAft>
                <a:spcPts val="1000"/>
              </a:spcAft>
            </a:pPr>
            <a:r>
              <a:rPr sz="1600" b="0">
                <a:solidFill>
                  <a:srgbClr val="161B26"/>
                </a:solidFill>
                <a:latin typeface="Arial"/>
              </a:rPr>
              <a:t>•  Source: use only Project_Brief and Decision_Log; do not add market facts.</a:t>
            </a:r>
          </a:p>
          <a:p>
            <a:pPr>
              <a:spcAft>
                <a:spcPts val="1000"/>
              </a:spcAft>
            </a:pPr>
            <a:r>
              <a:rPr sz="1600" b="0">
                <a:solidFill>
                  <a:srgbClr val="161B26"/>
                </a:solidFill>
                <a:latin typeface="Arial"/>
              </a:rPr>
              <a:t>•  Expectations: five headings, concise professional tone, ISO dates, a source note for every decision and an Open Questions section.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task has a definable output and the user can name a trustworthy evidence boundary.</a:t>
            </a:r>
          </a:p>
          <a:p>
            <a:pPr>
              <a:spcAft>
                <a:spcPts val="1000"/>
              </a:spcAft>
            </a:pPr>
            <a:r>
              <a:rPr sz="1400" b="0">
                <a:solidFill>
                  <a:srgbClr val="5B6372"/>
                </a:solidFill>
                <a:latin typeface="Arial"/>
              </a:rPr>
              <a:t>–  The first response is close but needs a controlled change to scope, format, tone or source coverage.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user cannot explain the intended decision or determine which source should govern the answer.</a:t>
            </a:r>
          </a:p>
          <a:p>
            <a:pPr>
              <a:spcAft>
                <a:spcPts val="1000"/>
              </a:spcAft>
            </a:pPr>
            <a:r>
              <a:rPr sz="1400" b="0">
                <a:solidFill>
                  <a:srgbClr val="5B6372"/>
                </a:solidFill>
                <a:latin typeface="Arial"/>
              </a:rPr>
              <a:t>–  The prompt contains credentials, secrets or unnecessary sensitive personal information.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Writing Effective Prompts for Better Results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Specific</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One task, one audience and one intended use.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Grounded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Named sources and explicit exclusions.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Verifiable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Acceptance checks that a reviewer can apply without guessing.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Researching and Summarising with Copilot Chat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Copilot Chat is a conversational workspace for asking questions, researching and synthesising information. Depending on the signed-in account, licence and organisational settings, it may use web information, explicitly referenced files and broader work context. The response can include citations or source links that help the user trace statements back to evidence.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Research becomes faster when Copilot can compare several permitted sources with explicit authority labels, but synthesis can hide contradictions, missing dates or weak evidence. A source register and claim ledger keep the research auditable: every important claim is recorded with its source, confidence and unresolved question.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Researching and Summarising with Copilot Chat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the research question and decide whether the boundary is work sources, web sources or both.</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Attach or reference only the permitted source pack, preserve each file's authority and status, and ask for a source-by-source inventory before synthesis.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Request claims in a table with source, evidence, uncertainty and follow-up needed.</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referenced material, compare quotations and numbers, and mark each claim Verified, Revise or Hold.</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Save the approved summary and source register for the next app rather than relying on chat history alone.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Researching and Summarising with Copilot Chat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Copilot compares the Asteron project brief, stakeholder notes and decision log.</a:t>
            </a:r>
          </a:p>
          <a:p>
            <a:pPr>
              <a:spcAft>
                <a:spcPts val="1000"/>
              </a:spcAft>
            </a:pPr>
            <a:r>
              <a:rPr sz="1600" b="0">
                <a:solidFill>
                  <a:srgbClr val="161B26"/>
                </a:solidFill>
                <a:latin typeface="Arial"/>
              </a:rPr>
              <a:t>•  It correctly identifies the launch date but assigns the wrong owner because two notes use similar role titles.</a:t>
            </a:r>
          </a:p>
          <a:p>
            <a:pPr>
              <a:spcAft>
                <a:spcPts val="1000"/>
              </a:spcAft>
            </a:pPr>
            <a:r>
              <a:rPr sz="1600" b="0">
                <a:solidFill>
                  <a:srgbClr val="161B26"/>
                </a:solidFill>
                <a:latin typeface="Arial"/>
              </a:rPr>
              <a:t>•  The learner opens both sources, corrects the owner and records the unresolved training-room capacity question.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Several accessible sources must be summarised, compared or turned into questions for a reviewer.</a:t>
            </a:r>
          </a:p>
          <a:p>
            <a:pPr>
              <a:spcAft>
                <a:spcPts val="1000"/>
              </a:spcAft>
            </a:pPr>
            <a:r>
              <a:rPr sz="1400" b="0">
                <a:solidFill>
                  <a:srgbClr val="5B6372"/>
                </a:solidFill>
                <a:latin typeface="Arial"/>
              </a:rPr>
              <a:t>–  A human can inspect the cited sources and keep a durable record of the approved findings.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answer would depend on inaccessible, outdated or unapproved evidence that cannot be checked.</a:t>
            </a:r>
          </a:p>
          <a:p>
            <a:pPr>
              <a:spcAft>
                <a:spcPts val="1000"/>
              </a:spcAft>
            </a:pPr>
            <a:r>
              <a:rPr sz="1400" b="0">
                <a:solidFill>
                  <a:srgbClr val="5B6372"/>
                </a:solidFill>
                <a:latin typeface="Arial"/>
              </a:rPr>
              <a:t>–  The user plans to paste the generated text directly into a public deliverable without source review.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Researching and Summarising with Copilot Chat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Coverage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List which sources were used, missing and excluded.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Traceability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Link every material claim, date, number and owner to its governing source.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Uncertainty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Preserve contradictions and open questions instead of smoothing them away.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Drafting, Rewriting and Summarising Documents in Word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Copilot in Word can create a draft from a prompt or referenced file, rewrite selected text, summarise a document and answer questions about its contents. Chat-only work can stay in the pane, while editing actions propose changes in the document. The user keeps control by reviewing the preview, retaining accurate wording and rejecting unsupported additions.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Word turns research into a governed business artifact. A good workflow separates the approved facts from the generated expression: the brief controls scope, the source pack controls content, the style guide controls voice and a release checklist controls whether the document is ready to hand off.</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Drafting, Rewriting and Summarising Documents in Word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Start from a saved Word file and state audience, purpose, length, structure and named source files.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Generate a first draft, then compare every heading, date, owner, number and commitment with the source register.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Select only the weak passage and request a bounded rewrite that preserves meaning and defined terms.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 comments or a review table to record Keep, Change or Remove decisions.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Save an approved version before another app uses the document as a source.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Drafting, Rewriting and Summarising Documents in Word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learner creates an Asteron launch brief of no more than two pages from a supported verified-claims TXT export.</a:t>
            </a:r>
          </a:p>
          <a:p>
            <a:pPr>
              <a:spcAft>
                <a:spcPts val="1000"/>
              </a:spcAft>
            </a:pPr>
            <a:r>
              <a:rPr sz="1600" b="0">
                <a:solidFill>
                  <a:srgbClr val="161B26"/>
                </a:solidFill>
                <a:latin typeface="Arial"/>
              </a:rPr>
              <a:t>•  A rewrite makes the risks more concise but accidentally changes 'pilot group' to 'all customers'.</a:t>
            </a:r>
          </a:p>
          <a:p>
            <a:pPr>
              <a:spcAft>
                <a:spcPts val="1000"/>
              </a:spcAft>
            </a:pPr>
            <a:r>
              <a:rPr sz="1600" b="0">
                <a:solidFill>
                  <a:srgbClr val="161B26"/>
                </a:solidFill>
                <a:latin typeface="Arial"/>
              </a:rPr>
              <a:t>•  The learner rejects that change, restores the approved scope and marks the file Approved for deck handoff.</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document needs a structured first draft, a bounded tone change or a source-based summary.</a:t>
            </a:r>
          </a:p>
          <a:p>
            <a:pPr>
              <a:spcAft>
                <a:spcPts val="1000"/>
              </a:spcAft>
            </a:pPr>
            <a:r>
              <a:rPr sz="1400" b="0">
                <a:solidFill>
                  <a:srgbClr val="5B6372"/>
                </a:solidFill>
                <a:latin typeface="Arial"/>
              </a:rPr>
              <a:t>–  The owner can review proposed changes and maintain version history in OneDrive or SharePoint.</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source brief is unresolved or the requested rewrite could alter a binding commitment without review.</a:t>
            </a:r>
          </a:p>
          <a:p>
            <a:pPr>
              <a:spcAft>
                <a:spcPts val="1000"/>
              </a:spcAft>
            </a:pPr>
            <a:r>
              <a:rPr sz="1400" b="0">
                <a:solidFill>
                  <a:srgbClr val="5B6372"/>
                </a:solidFill>
                <a:latin typeface="Arial"/>
              </a:rPr>
              <a:t>–  The document contains material the signed-in account is not authorised to process with the feature.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Drafting, Rewriting and Summarising Documents in Word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Fidelity</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Preserve approved meaning, scope, dates, owners and defined terms.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Audience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the reader's decisions and questions to shape structure and tone.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Release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Approve a named version before it becomes the source for another artifact.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Generating and Refining Presentations in PowerPoint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Copilot in PowerPoint can draft a presentation from a prompt or an existing Word or PDF file, create or refine slide text, add a slide grounded in a referenced file, and summarise a deck. The generated presentation remains a draft: layout, facts, sequence, visuals, accessibility and speaker notes still require expert review.</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document-to-deck workflow can preserve the approved narrative while reducing assembly time. However, a slide is not a paragraph pasted onto a canvas. Each slide needs one message, visible evidence and a role in the story; decorative images must not imply facts that the source does not support.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Generating and Refining Presentations in PowerPoint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Approve and save the source document in OneDrive or SharePoint before starting the presentation.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Ask for a bounded slide count, named audience, decision-oriented sequence and required sections.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Compare slide titles, claims, dates, owners and numbers with the Word source and source register.</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Refine one slide at a time, replacing generic text and inappropriate imagery with accurate content.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Check reading order, alt text, contrast, speaker notes and the final call to action before sharing.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Generating and Refining Presentations in PowerPoint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Copilot creates a six-slide Asteron launch deck from the approved Word brief.</a:t>
            </a:r>
          </a:p>
          <a:p>
            <a:pPr>
              <a:spcAft>
                <a:spcPts val="1000"/>
              </a:spcAft>
            </a:pPr>
            <a:r>
              <a:rPr sz="1600" b="0">
                <a:solidFill>
                  <a:srgbClr val="161B26"/>
                </a:solidFill>
                <a:latin typeface="Arial"/>
              </a:rPr>
              <a:t>•  The generated risks slide omits the training dependency and uses a generic image unrelated to the pilot.</a:t>
            </a:r>
          </a:p>
          <a:p>
            <a:pPr>
              <a:spcAft>
                <a:spcPts val="1000"/>
              </a:spcAft>
            </a:pPr>
            <a:r>
              <a:rPr sz="1600" b="0">
                <a:solidFill>
                  <a:srgbClr val="161B26"/>
                </a:solidFill>
                <a:latin typeface="Arial"/>
              </a:rPr>
              <a:t>•  The learner restores the missing risk, replaces the image with a simple milestone diagram and adds source notes.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stable source document already contains the approved narrative and the deck needs a fast first structure.</a:t>
            </a:r>
          </a:p>
          <a:p>
            <a:pPr>
              <a:spcAft>
                <a:spcPts val="1000"/>
              </a:spcAft>
            </a:pPr>
            <a:r>
              <a:rPr sz="1400" b="0">
                <a:solidFill>
                  <a:srgbClr val="5B6372"/>
                </a:solidFill>
                <a:latin typeface="Arial"/>
              </a:rPr>
              <a:t>–  The presenter can edit the result, check accessibility and rehearse the final story.</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source file is unapproved, contradictory or too long to support a focused presentation.</a:t>
            </a:r>
          </a:p>
          <a:p>
            <a:pPr>
              <a:spcAft>
                <a:spcPts val="1000"/>
              </a:spcAft>
            </a:pPr>
            <a:r>
              <a:rPr sz="1400" b="0">
                <a:solidFill>
                  <a:srgbClr val="5B6372"/>
                </a:solidFill>
                <a:latin typeface="Arial"/>
              </a:rPr>
              <a:t>–  A generated image or slide could be mistaken for real operational evidence.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Generating and Refining Presentations in PowerPoint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Story</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One audience, one decision path and one message per slide.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Evidence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factual slide traces to the approved source; visuals do not fabricate proof.</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Accessibility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Readable contrast, concise text, logical reading order and useful alternative text.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Getting Started with Microsoft 365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Research the Asteron Launch and Build a Verified Source Register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Draft and Approve the Asteron Launch Brief in Word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3</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Generate and Refine the Asteron Decision Deck in PowerPoint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Research the Asteron Launch and Build a Verified Source Register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inspect three synthetic Asteron source files, register their purpose and status, then ask Copilot Chat to synthesise the launch facts. You will open the sources, verify dates, owners, decisions and open questions, and keep unsupported statements out of the approved ledger.</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work-c027/C027-Asteron-Source-Register.xlsx with Sources, Claim_Ledger and Review_Log tables, plus work-c027/C027-Asteron-Verified-Claims.txt and a Reviewed release record</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Inspect sources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Write G-C-S-E</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Generate ledger</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Trace claims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Microsoft 365 Copilot Chat · Excel · asteron-project-brief.md · asteron-decision-log.csv · asteron-stakeholder-notes.md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Research the Asteron Launch and Build a Verified Source Register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600" b="0">
                <a:solidFill>
                  <a:srgbClr val="161B26"/>
                </a:solidFill>
                <a:latin typeface="Arial"/>
              </a:rPr>
              <a:t>tblSources must contain exactly three permitted sources with their true authority/status and no web source. tblClaims must include the six material checks with Source_ID and evidence. The 2026-08-13 data-export date must supersede 2026-08-12, and the support clinic must remain proposed. Every unsupported statement must be REVISE or HOLD. tblReviewLog must contain every required review field, and the TXT export must contain only VERIFIED claims, including source-supported Proposed/Open items with those labels and no unsupported HOLD rows. The final release state must be Reviewed, not Approved, because one room question remains open.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and Approve the Asteron Launch Brief in Word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500" b="0">
                <a:solidFill>
                  <a:srgbClr val="161B26"/>
                </a:solidFill>
                <a:latin typeface="Arial"/>
              </a:rPr>
              <a:t>You will create a Word document for Asteron department heads, use the supported verified-claims TXT export as the Copilot reference, then review the generated draft against the source register and project brief line by line. You will use Copilot to rewrite one selected passage without changing scope, commitments or unresolved items.</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work-c027/C027-Asteron-Launch-Brief-v1.0.docx with five required sections, source notes, an Open Questions box and an Approved for deck handoff record</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Create brief</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Ground draft</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Trace facts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Rewrite one passage</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Word for Microsoft 365 · Copilot in Word · C027-Asteron-Verified-Claims.txt · C027-Asteron-Source-Register.xlsx</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and Approve the Asteron Launch Brief in Word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800" b="0">
                <a:solidFill>
                  <a:srgbClr val="161B26"/>
                </a:solidFill>
                <a:latin typeface="Arial"/>
              </a:rPr>
              <a:t>The Word file must contain exactly the five required headings and remain within two pages including the release table. Every material date, number, owner and commitment must trace to a Source_ID. The launch date must be 2026-08-18, the data export 2026-08-13 and the support-clinic room must remain open. The title block must show v1.0 and Approved for deck handoff.</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Generate and Refine the Asteron Decision Deck in PowerPoint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use the approved Lab 2 Word brief to generate a PowerPoint draft for department heads. You will compare every factual slide with the source, replace generic or misleading content, refine one slide from a referenced file and complete an accessibility and release check.</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work-c027/C027-Asteron-Decision-Deck-v1.0.pptx with six decision-oriented slides, concise speaker notes, source notes and a Reviewed for internal presentation status</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Generate from file</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Check story</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Trace facts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Refine visuals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PowerPoint for Microsoft 365 · Copilot in PowerPoint · C027-Asteron-Launch-Brief-v1.0.docx</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Generate and Refine the Asteron Decision Deck in PowerPoint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600" b="0">
                <a:solidFill>
                  <a:srgbClr val="161B26"/>
                </a:solidFill>
                <a:latin typeface="Arial"/>
              </a:rPr>
              <a:t>The deck must contain exactly six slides in the required sequence. All repeated facts must match the approved Word brief, slide 3 must show dependencies/status without numerical readiness measures, slide 4 must contain only the four approved milestones, and no visual may imply real customer evidence. Each factual slide must have a Source_ID note. The final notes must record the Accessibility Checker result, and the final state must be Reviewed for internal presentation.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Getting Started with Microsoft 365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LO1 - Ground and Prompt: Distinguish prompt instructions from grounding sources, use Goal-Context-Source-Expectations, and trace every factual statement in a Copilot Chat summary to an approved source.</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LO2 - Write and Present: Use Word to draft and rewrite against an audience brief, approve the document before handoff, and use that approved file as the source for a concise PowerPoint presentation.</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Copilot Across Your Everyday Work Apps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Excel analysis and formulas · Outlook email work · Teams recaps · end-to-end app workflows · responsible AI and data privacy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Second half · 5 connected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Copilot Across Your Everyday Work Apps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Bounded Excel analysis</a:t>
            </a:r>
          </a:p>
          <a:p>
            <a:pPr algn="l">
              <a:spcAft>
                <a:spcPts val="300"/>
              </a:spcAft>
            </a:pPr>
            <a:r>
              <a:rPr sz="1200" b="0">
                <a:solidFill>
                  <a:srgbClr val="5B6372"/>
                </a:solidFill>
                <a:latin typeface="Arial"/>
              </a:rPr>
              <a:t>Name the table, columns, filters, units and expected checks before asking for a formula or insight.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Thread-to-response control</a:t>
            </a:r>
          </a:p>
          <a:p>
            <a:pPr algn="l">
              <a:spcAft>
                <a:spcPts val="300"/>
              </a:spcAft>
            </a:pPr>
            <a:r>
              <a:rPr sz="1200" b="0">
                <a:solidFill>
                  <a:srgbClr val="5B6372"/>
                </a:solidFill>
                <a:latin typeface="Arial"/>
              </a:rPr>
              <a:t>Separate facts extracted from an Outlook thread from the generated wording of a draft reply.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Transcript-backed actions</a:t>
            </a:r>
          </a:p>
          <a:p>
            <a:pPr algn="l">
              <a:spcAft>
                <a:spcPts val="300"/>
              </a:spcAft>
            </a:pPr>
            <a:r>
              <a:rPr sz="1200" b="0">
                <a:solidFill>
                  <a:srgbClr val="5B6372"/>
                </a:solidFill>
                <a:latin typeface="Arial"/>
              </a:rPr>
              <a:t>A Teams recap is useful only when owners, due dates and decisions agree with the meeting evidence.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Handoff contracts</a:t>
            </a:r>
          </a:p>
          <a:p>
            <a:pPr algn="l">
              <a:spcAft>
                <a:spcPts val="300"/>
              </a:spcAft>
            </a:pPr>
            <a:r>
              <a:rPr sz="1200" b="0">
                <a:solidFill>
                  <a:srgbClr val="5B6372"/>
                </a:solidFill>
                <a:latin typeface="Arial"/>
              </a:rPr>
              <a:t>Each app passes an approved artifact, source note, owner and verification status to the next app.</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Permissions are the perimeter</a:t>
            </a:r>
          </a:p>
          <a:p>
            <a:pPr algn="l">
              <a:spcAft>
                <a:spcPts val="300"/>
              </a:spcAft>
            </a:pPr>
            <a:r>
              <a:rPr sz="1200" b="0">
                <a:solidFill>
                  <a:srgbClr val="5B6372"/>
                </a:solidFill>
                <a:latin typeface="Arial"/>
              </a:rPr>
              <a:t>Copilot honours the user's access; overshared content therefore remains an organisational risk.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Human release gate</a:t>
            </a:r>
          </a:p>
          <a:p>
            <a:pPr algn="l">
              <a:spcAft>
                <a:spcPts val="300"/>
              </a:spcAft>
            </a:pPr>
            <a:r>
              <a:rPr sz="1200" b="0">
                <a:solidFill>
                  <a:srgbClr val="5B6372"/>
                </a:solidFill>
                <a:latin typeface="Arial"/>
              </a:rPr>
              <a:t>Generated content stays in Draft or Hold until a named person checks evidence, sensitivity and audience.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Analysing Data and Generating Formulas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Copilot in Excel can help analyse table-like data, surface summaries, trends and outliers, generate or explain formulas, and create editable workbook elements such as tables, PivotTables and charts in supported experiences. Some analytical responses may be static. The user must understand the grain, data types, filters and calculation logic before relying on the output.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plausible formula can still use the wrong denominator, sign, date boundary or blank-value rule. Excel makes generated logic inspectable, so the masterclass pairs every Copilot action with an independent control: row count, formula sample, reconciliation total and edge-case review.</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Analysing Data and Generating Formulas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Save the workbook to an approved cloud location, keep the raw data unchanged and convert the bounded range into a named table.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State the row grain, business question, named columns, filters, units and required output.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Ask Copilot to propose or explain the formula before applying it; inspect structured references and fill behaviour.</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Recalculate control totals using an independent method and sample normal, blank and boundary rows.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Label generated insights as Observed, Hypothesis or Unknown and record the checked workbook version.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Analysing Data and Generating Formulas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Asteron needs confirmed attendance rate and follow-up priority for a 20-person pilot cohort.</a:t>
            </a:r>
          </a:p>
          <a:p>
            <a:pPr>
              <a:spcAft>
                <a:spcPts val="1000"/>
              </a:spcAft>
            </a:pPr>
            <a:r>
              <a:rPr sz="1600" b="0">
                <a:solidFill>
                  <a:srgbClr val="161B26"/>
                </a:solidFill>
                <a:latin typeface="Arial"/>
              </a:rPr>
              <a:t>•  Copilot proposes a rate formula, but the learner notices blank attendance values are included in the denominator.</a:t>
            </a:r>
          </a:p>
          <a:p>
            <a:pPr>
              <a:spcAft>
                <a:spcPts val="1000"/>
              </a:spcAft>
            </a:pPr>
            <a:r>
              <a:rPr sz="1600" b="0">
                <a:solidFill>
                  <a:srgbClr val="161B26"/>
                </a:solidFill>
                <a:latin typeface="Arial"/>
              </a:rPr>
              <a:t>•  The learner revises the rule, checks three edge rows and ties the summary counts to the raw table.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data is tabular, the requested calculation is explicit and the workbook can retain visible controls.</a:t>
            </a:r>
          </a:p>
          <a:p>
            <a:pPr>
              <a:spcAft>
                <a:spcPts val="1000"/>
              </a:spcAft>
            </a:pPr>
            <a:r>
              <a:rPr sz="1400" b="0">
                <a:solidFill>
                  <a:srgbClr val="5B6372"/>
                </a:solidFill>
                <a:latin typeface="Arial"/>
              </a:rPr>
              <a:t>–  The user can inspect formulas, PivotTables, charts or generated analytical logic.</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dataset has undefined grain, mixed meanings or unresolved quality problems.</a:t>
            </a:r>
          </a:p>
          <a:p>
            <a:pPr>
              <a:spcAft>
                <a:spcPts val="1000"/>
              </a:spcAft>
            </a:pPr>
            <a:r>
              <a:rPr sz="1400" b="0">
                <a:solidFill>
                  <a:srgbClr val="5B6372"/>
                </a:solidFill>
                <a:latin typeface="Arial"/>
              </a:rPr>
              <a:t>–  A static generated visual would be mistaken for a refreshable workbook result.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Analysing Data and Generating Formulas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Boundary</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Name the table, columns, date range, filters, units and exclusions.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Logic</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Inspect formula, aggregation and missing-value rules rather than accepting the label.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Tie-out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Reconcile counts and totals independently before interpreting patterns.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Drafting Emails and Summarising Threads in Outlook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Copilot in Outlook can summarise email threads, draft messages from a prompt and thread context, offer coaching on tone and clarity, and help prepare for meetings in eligible experiences. Feature availability varies by licence, client and policy. Signed, encrypted, rights-managed or some labelled messages can have additional limitations.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Email combines factual history with a consequential communication act. A safe workflow first extracts decisions, requests, owners and dates from the thread, then drafts a reply that does not invent agreement. The sender verifies recipients, attachments, sensitivity, commitments and tone before sending.</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Drafting Emails and Summarising Threads in Outlook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bounded synthetic thread and ask for decisions, action items, open questions and conflicting statements.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Compare the summary with each message and correct owner, date, number and status errors.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Draft a response with explicit audience, purpose, tone, commitments and items that must remain unresolved.</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 coaching to review clarity and tone without allowing a rewrite to change factual meaning.</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Check To, Cc, attachments, links, sensitivity and every commitment; keep the message as a draft until approved.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Drafting Emails and Summarising Threads in Outlook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Asteron thread contains two proposed training dates but only one confirmed room booking.</a:t>
            </a:r>
          </a:p>
          <a:p>
            <a:pPr>
              <a:spcAft>
                <a:spcPts val="1000"/>
              </a:spcAft>
            </a:pPr>
            <a:r>
              <a:rPr sz="1600" b="0">
                <a:solidFill>
                  <a:srgbClr val="161B26"/>
                </a:solidFill>
                <a:latin typeface="Arial"/>
              </a:rPr>
              <a:t>•  Copilot's first draft presents both dates as final. The learner restores the distinction and asks the facilities owner to confirm.</a:t>
            </a:r>
          </a:p>
          <a:p>
            <a:pPr>
              <a:spcAft>
                <a:spcPts val="1000"/>
              </a:spcAft>
            </a:pPr>
            <a:r>
              <a:rPr sz="1600" b="0">
                <a:solidFill>
                  <a:srgbClr val="161B26"/>
                </a:solidFill>
                <a:latin typeface="Arial"/>
              </a:rPr>
              <a:t>•  The message remains in Draft and its facts are compared with the decision log before any send action.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bounded thread needs a catch-up summary, response outline or tone review.</a:t>
            </a:r>
          </a:p>
          <a:p>
            <a:pPr>
              <a:spcAft>
                <a:spcPts val="1000"/>
              </a:spcAft>
            </a:pPr>
            <a:r>
              <a:rPr sz="1400" b="0">
                <a:solidFill>
                  <a:srgbClr val="5B6372"/>
                </a:solidFill>
                <a:latin typeface="Arial"/>
              </a:rPr>
              <a:t>–  The sender can inspect the complete thread and owns the final recipient and send decisions.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thread includes highly sensitive content not suitable for the intended audience or unsupported client experience.</a:t>
            </a:r>
          </a:p>
          <a:p>
            <a:pPr>
              <a:spcAft>
                <a:spcPts val="1000"/>
              </a:spcAft>
            </a:pPr>
            <a:r>
              <a:rPr sz="1400" b="0">
                <a:solidFill>
                  <a:srgbClr val="5B6372"/>
                </a:solidFill>
                <a:latin typeface="Arial"/>
              </a:rPr>
              <a:t>–  The generated draft would create a commitment that no authorised person has approved.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Drafting Emails and Summarising Threads in Outlook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Facts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Separate thread evidence from generated wording and preserve unresolved items.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Recipients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Recheck To, Cc, attachments and audience before release.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Commitments</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Do not turn proposals, questions or estimates into promises.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Meeting Recaps and Action Items in Teams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Copilot and intelligent recap in Teams can use a meeting transcript, chat and supported event content to summarise key points, decisions and follow-up tasks. Recap features depend on the event type, licence, recording or transcription settings, language and organisational policy. A recap is generated evidence aid, not a replacement for the governing transcript or a confirmed action register.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Meeting summaries compress fast-moving conversation, but transcription errors and ambiguous speech can misassign an owner or due date. A strong action register requires an action verb, deliverable, named owner, ISO date, status and a transcript reference; unresolved statements stay open.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Meeting Recaps and Action Items in Teams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Obtain consent and follow organisational policy before recording or transcription; use the supplied synthetic transcript when live transcription is unavailable.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Ask for decisions, action items, blockers and open questions in separate sections.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Compare each item with the transcript or chat and correct speaker attribution, negation, numbers and dates.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Convert confirmed actions into a register with owner, deliverable, due date, evidence and status.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Share the reviewed register only with the intended participants and retain open questions visibly.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Meeting Recaps and Action Items in Teams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speaker says the FAQ draft is due Friday, but the room booking will be confirmed next Monday.</a:t>
            </a:r>
          </a:p>
          <a:p>
            <a:pPr>
              <a:spcAft>
                <a:spcPts val="1000"/>
              </a:spcAft>
            </a:pPr>
            <a:r>
              <a:rPr sz="1600" b="0">
                <a:solidFill>
                  <a:srgbClr val="161B26"/>
                </a:solidFill>
                <a:latin typeface="Arial"/>
              </a:rPr>
              <a:t>•  The generated recap assigns both items to the same owner and date.</a:t>
            </a:r>
          </a:p>
          <a:p>
            <a:pPr>
              <a:spcAft>
                <a:spcPts val="1000"/>
              </a:spcAft>
            </a:pPr>
            <a:r>
              <a:rPr sz="1600" b="0">
                <a:solidFill>
                  <a:srgbClr val="161B26"/>
                </a:solidFill>
                <a:latin typeface="Arial"/>
              </a:rPr>
              <a:t>•  The learner checks the transcript, corrects the two records and labels the room decision Open.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permitted transcript or meeting chat exists and the participants need a faster first recap.</a:t>
            </a:r>
          </a:p>
          <a:p>
            <a:pPr>
              <a:spcAft>
                <a:spcPts val="1000"/>
              </a:spcAft>
            </a:pPr>
            <a:r>
              <a:rPr sz="1400" b="0">
                <a:solidFill>
                  <a:srgbClr val="5B6372"/>
                </a:solidFill>
                <a:latin typeface="Arial"/>
              </a:rPr>
              <a:t>–  A person who attended can validate decisions, owners and due dates before circulation.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Recording or transcription is not permitted, participants have not been informed or sensitive discussion needs special handling.</a:t>
            </a:r>
          </a:p>
          <a:p>
            <a:pPr>
              <a:spcAft>
                <a:spcPts val="1000"/>
              </a:spcAft>
            </a:pPr>
            <a:r>
              <a:rPr sz="1400" b="0">
                <a:solidFill>
                  <a:srgbClr val="5B6372"/>
                </a:solidFill>
                <a:latin typeface="Arial"/>
              </a:rPr>
              <a:t>–  The recap will be treated as final minutes without comparison to the meeting evidence.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Meeting Recaps and Action Items in Teams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Consent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Follow policy and participant expectations for recording, transcription and sharing.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Evidence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Link actions and decisions to transcript language or chat context.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Ownership</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confirmed action has one owner, one deliverable and one due date.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Building End-to-End Copilot Workflows Across Apps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 end-to-end Copilot workflow connects approved outputs across apps without losing source boundaries, ownership or review status. The key is a handoff contract: every transition names the source artifact, approved version, intended destination, required transformation, constraints, owner and verification gate.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Cross-app speed can multiply an early error. If an unverified chat summary becomes a Word brief, then a deck, email and meeting plan, one wrong date appears everywhere. Checkpointed handoffs contain the blast radius: downstream apps receive only approved artifacts and changes are reconciled back to the source register.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Building End-to-End Copilot Workflows Across Apps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Map the workflow from source evidence to Chat synthesis, Word brief, PowerPoint deck, Excel analysis, Outlook draft and Teams actions.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a release state for each artifact: Draft, Reviewed, Approved or Hold.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At each handoff, name the file and version, destination, allowed transformation and facts that must not change.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Run a consistency check for titles, dates, numbers, owners, terminology and audience across every artifact.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Record the final owner and next action; keep links rather than duplicating uncontrolled copies where possible.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Building End-to-End Copilot Workflows Across Apps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approved Asteron Word brief supplies the story for PowerPoint, while Excel supplies verified attendance figures.</a:t>
            </a:r>
          </a:p>
          <a:p>
            <a:pPr>
              <a:spcAft>
                <a:spcPts val="1000"/>
              </a:spcAft>
            </a:pPr>
            <a:r>
              <a:rPr sz="1600" b="0">
                <a:solidFill>
                  <a:srgbClr val="161B26"/>
                </a:solidFill>
                <a:latin typeface="Arial"/>
              </a:rPr>
              <a:t>•  The Outlook draft and Teams action register use links to those artifacts and repeat only the minimum confirmed facts.</a:t>
            </a:r>
          </a:p>
          <a:p>
            <a:pPr>
              <a:spcAft>
                <a:spcPts val="1000"/>
              </a:spcAft>
            </a:pPr>
            <a:r>
              <a:rPr sz="1600" b="0">
                <a:solidFill>
                  <a:srgbClr val="161B26"/>
                </a:solidFill>
                <a:latin typeface="Arial"/>
              </a:rPr>
              <a:t>•  A cross-app check detects that one slide uses an earlier launch date; the learner corrects it before the pack is released.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Several apps contribute distinct strengths and each handoff can be checkpointed.</a:t>
            </a:r>
          </a:p>
          <a:p>
            <a:pPr>
              <a:spcAft>
                <a:spcPts val="1000"/>
              </a:spcAft>
            </a:pPr>
            <a:r>
              <a:rPr sz="1400" b="0">
                <a:solidFill>
                  <a:srgbClr val="5B6372"/>
                </a:solidFill>
                <a:latin typeface="Arial"/>
              </a:rPr>
              <a:t>–  A named owner can reconcile downstream outputs to the governing sources.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workflow copies unapproved chat text from app to app or obscures which file is authoritative.</a:t>
            </a:r>
          </a:p>
          <a:p>
            <a:pPr>
              <a:spcAft>
                <a:spcPts val="1000"/>
              </a:spcAft>
            </a:pPr>
            <a:r>
              <a:rPr sz="1400" b="0">
                <a:solidFill>
                  <a:srgbClr val="5B6372"/>
                </a:solidFill>
                <a:latin typeface="Arial"/>
              </a:rPr>
              <a:t>–  Automation would send, publish or schedule consequential output without a human release gate.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Building End-to-End Copilot Workflows Across Apps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Authority</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Declare which artifact governs each fact, number and commitment.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State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Show Draft, Reviewed, Approved or Hold at every handoff.</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Consistency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Reconcile titles, dates, owners, measures and audience across the full pack.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Responsible AI, Data Privacy and Best Practices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Responsible use of Microsoft 365 Copilot combines technical protections with human judgment. For organisational use, enterprise data protection applies to prompts and responses, Microsoft 365 permissions continue to govern accessible work data, and interactions can be retained for audit and compliance. These protections do not correct oversharing, weak sources or inaccurate generated content.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Copilot can accelerate existing good practice and expose existing information-governance weaknesses. A user who can access an overshared file may receive it in grounded results. Responsible practice therefore uses least privilege, sensitivity and sharing controls, minimal necessary data, source verification, transparent AI use where appropriate and named human accountability.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Responsible AI, Data Privacy and Best Practices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Confirm identity, licence, organisational policy, approved app and the minimum data necessary for the task.</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Check file permissions, sharing links, labels and audience before referencing or publishing content.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 not place credentials, secrets or unnecessary sensitive personal information in prompts.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Review outputs for factual error, harmful bias, privacy exposure, unsupported inference and inappropriate tone.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Record sources, meaningful AI assistance, reviewer, release decision and unresolved limitations.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Responsible AI, Data Privacy and Best Practices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Copilot search surfaces an old broadly shared roster with personal contact details.</a:t>
            </a:r>
          </a:p>
          <a:p>
            <a:pPr>
              <a:spcAft>
                <a:spcPts val="1000"/>
              </a:spcAft>
            </a:pPr>
            <a:r>
              <a:rPr sz="1600" b="0">
                <a:solidFill>
                  <a:srgbClr val="161B26"/>
                </a:solidFill>
                <a:latin typeface="Arial"/>
              </a:rPr>
              <a:t>•  The learner does not use or reproduce the roster, reports the oversharing through the organisation's process and uses the synthetic cohort file instead.</a:t>
            </a:r>
          </a:p>
          <a:p>
            <a:pPr>
              <a:spcAft>
                <a:spcPts val="1000"/>
              </a:spcAft>
            </a:pPr>
            <a:r>
              <a:rPr sz="1600" b="0">
                <a:solidFill>
                  <a:srgbClr val="161B26"/>
                </a:solidFill>
                <a:latin typeface="Arial"/>
              </a:rPr>
              <a:t>•  The final pack records its sources, reviewer and Approved state without exposing unnecessary personal information.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task uses authorised data, proportionate controls and a reviewer who understands the decision context.</a:t>
            </a:r>
          </a:p>
          <a:p>
            <a:pPr>
              <a:spcAft>
                <a:spcPts val="1000"/>
              </a:spcAft>
            </a:pPr>
            <a:r>
              <a:rPr sz="1400" b="0">
                <a:solidFill>
                  <a:srgbClr val="5B6372"/>
                </a:solidFill>
                <a:latin typeface="Arial"/>
              </a:rPr>
              <a:t>–  The organisation's retention, sensitivity, sharing and acceptable-use requirements are known.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prompt would expose secrets, bypass access controls, profile people unfairly or conceal an unsupported decision.</a:t>
            </a:r>
          </a:p>
          <a:p>
            <a:pPr>
              <a:spcAft>
                <a:spcPts val="1000"/>
              </a:spcAft>
            </a:pPr>
            <a:r>
              <a:rPr sz="1400" b="0">
                <a:solidFill>
                  <a:srgbClr val="5B6372"/>
                </a:solidFill>
                <a:latin typeface="Arial"/>
              </a:rPr>
              <a:t>–  The user cannot identify who is accountable for checking and releasing the output.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Responsible AI, Data Privacy and Best Practices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Minimise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only the data and detail necessary for the declared purpose.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Protect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Apply permissions, labels, sharing and retention controls appropriate to the source.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Account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Name the reviewer, sources, limitations and release decision.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Copilot Across Your Everyday Work Apps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4–5</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Analyse Pilot Readiness and Verify Copilot Formulas in Excel</a:t>
            </a:r>
          </a:p>
          <a:p>
            <a:pPr>
              <a:spcAft>
                <a:spcPts val="900"/>
              </a:spcAft>
            </a:pPr>
            <a:r>
              <a:rPr sz="1400" b="0">
                <a:solidFill>
                  <a:srgbClr val="161B26"/>
                </a:solidFill>
                <a:latin typeface="Arial"/>
              </a:rPr>
              <a:t>•  Summarise the Launch Thread and Prepare a Reviewed Outlook Draft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6–7</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Validate a Teams Recap and Create the Action Register</a:t>
            </a:r>
          </a:p>
          <a:p>
            <a:pPr>
              <a:spcAft>
                <a:spcPts val="900"/>
              </a:spcAft>
            </a:pPr>
            <a:r>
              <a:rPr sz="1400" b="0">
                <a:solidFill>
                  <a:srgbClr val="161B26"/>
                </a:solidFill>
                <a:latin typeface="Arial"/>
              </a:rPr>
              <a:t>•  Assemble and Reconcile the Cross-App Coordination Pack</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8</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Run the Responsible-Use and Privacy Release Gate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Analyse Pilot Readiness and Verify Copilot Formulas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import a 20-row synthetic pilot cohort, preserve the raw source and ask Copilot to create a priority formula and readiness summary. You will inspect the logic, correct denominator rules and reconcile counts, rates and averages before writing three decision-relevant observations.</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work-c027/C027-Asteron-Pilot-Readiness.xlsx with Raw_Cohort, Analysis, Control and Prompt_Log sheets, a verified priority column and an Approved internal readiness summary, plus work-c027/C027-Asteron-Verified-Readiness-Summary.txt</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Protect source</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Define measures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Generate formulas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Tie out controls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Excel for Microsoft 365 · Copilot in Excel · asteron-pilot-readiness.csv</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Analyse Pilot Readiness and Verify Copilot Formulas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600" b="0">
                <a:solidFill>
                  <a:srgbClr val="161B26"/>
                </a:solidFill>
                <a:latin typeface="Arial"/>
              </a:rPr>
              <a:t>Raw_Cohort must match the CSV and tblReadiness must contain 20 rows with 20 unique IDs. Control values must match asteron-excel-controls.md exactly. Priority must show High only for P004, P008, P010 and P015 among confirmed participants, and Not in cohort for P017-P020. Every department row and the grand total must tie to asteron-department-controls.csv, every summary sentence must cite a control cell, and the verified TXT export must contain the three headline measures.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Summarise the Launch Thread and Prepare a Reviewed Outlook Draft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create a private synthetic email thread in your own mailbox from the supplied messages, use Copilot to summarise decisions and open questions, then draft a concise internal update. You will verify the thread facts and leave the message unsent for the cross-app review.</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An Outlook draft titled [DRAFT] Asteron pilot launch update - review required, plus work-c027/C027-Outlook-Thread-Review.md with the verified facts and release checklist</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Create thread</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Summarise facts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Compare messages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Draft response</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Outlook for Microsoft 365 · Copilot in Outlook · asteron-email-thread.md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Summarise the Launch Thread and Prepare a Reviewed Outlook Draft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600" b="0">
                <a:solidFill>
                  <a:srgbClr val="161B26"/>
                </a:solidFill>
                <a:latin typeface="Arial"/>
              </a:rPr>
              <a:t>The mailbox must contain a three-message synthetic self-thread and one unsent draft. The review file must exist in work-c027, state that embedded synthetic sender/date labels govern project history, show 2026-08-13 as the current export date, keep the support clinic proposed and hold external announcement until privacy sign-off. The final draft must be under 180 words, addressed only to self, contain no attachment and remain HOLD - cross-app review pending.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Validate a Teams Recap and Create the Action Register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use a trainer-provided synthetic Teams meeting recap or the supplied transcript in Copilot Chat inside Teams. You will compare generated decisions and actions with the evidence, correct attribution and dates, and create a durable action register for the cross-app workflow.</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work-c027/C027-Teams-Action-Register.xlsx with Decisions, Actions, Proposals and Open_Questions sheets, transcript references and a Reviewed internal coordination state, plus work-c027/C027-Asteron-Verified-Actions.txt</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Open recap</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Extract categories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Trace evidence</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Correct actions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Microsoft Teams · Copilot or intelligent recap · asteron-teams-transcript.md · Excel</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Validate a Teams Recap and Create the Action Register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600" b="0">
                <a:solidFill>
                  <a:srgbClr val="161B26"/>
                </a:solidFill>
                <a:latin typeface="Arial"/>
              </a:rPr>
              <a:t>The register must contain all four required sheets/tables, the five required work items with exact owners and dates, plus one proposed clinic and one open room question. Every confirmed action must include transcript evidence, and the file must record whether the source was a Teams recap or the supplied transcript fallback. The release state must be Reviewed for internal coordination, and the verified-actions TXT export must contain only confirmed actions.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Assemble and Reconcile the Cross-App Coordination Pack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register the Chat, Word, PowerPoint, Excel, Outlook and Teams outputs, declare which artifact governs each type of information, then use Copilot to draft a coordination update. A consistency matrix will expose any date, owner, number or status that drifted during an app handoff.</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work-c027/C027-Asteron-Cross-App-Manifest.xlsx and C027-Asteron-Coordination-Pack.docx with authoritative-source links, a consistency matrix and an Approved internal handoff state</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Register artifacts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Declare authority</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Draft pack</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Reconcile facts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Microsoft 365 Copilot Chat · Word · Excel · PowerPoint · Outlook · Teams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Assemble and Reconcile the Cross-App Coordination Pack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600" b="0">
                <a:solidFill>
                  <a:srgbClr val="161B26"/>
                </a:solidFill>
                <a:latin typeface="Arial"/>
              </a:rPr>
              <a:t>The manifest must contain six artifact rows with links, owners, versions and states. The authority map must name one governing artifact for each information type. Every required consistency row must show MATCH across all artifacts where the fact appears. The coordination pack must be no more than two pages, cite its source artifacts and be Approved internal handoff; the Outlook draft must remain Hold. Any substituted prior output must be visibly marked REJOIN-PACK-v1.0 and Trainer-validated practice fallback.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Run the Responsible-Use and Privacy Release Gate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500" b="0">
                <a:solidFill>
                  <a:srgbClr val="161B26"/>
                </a:solidFill>
                <a:latin typeface="Arial"/>
              </a:rPr>
              <a:t>You will inspect a simulated sharing and sensitivity scenario for every Asteron artifact, identify an overbroad readiness-data link, minimise copied personal detail and complete the C027 release gate. The default path is a tabletop review; an actual permission change is permitted only in a trainer-authorised sandbox. The exercise ends with simulation-only, Revise or Hold decisions and named owners.</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work-c027/C027-Asteron-Responsible-Use-Release-Log.docx with artifact-level permission, data, accuracy, audience, transparency, reviewer and release decisions</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Inspect permissions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Minimise data</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Review risks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Remediate gaps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Microsoft 365 · OneDrive or SharePoint sharing controls · Copilot · asteron-sharing-simulation.md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Run the Responsible-Use and Privacy Release Gate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600" b="0">
                <a:solidFill>
                  <a:srgbClr val="161B26"/>
                </a:solidFill>
                <a:latin typeface="Arial"/>
              </a:rPr>
              <a:t>The release log must contain seven artifact rows and no blank reviewer or decision. It must identify the overbroad readiness link, exclude the unnecessary contact list, record the group-verification request or trainer-authorised sandbox evidence, keep the Outlook message unsent and hold the external announcement pending privacy sign-off. The coordination pack may be Approved in simulation only on the tabletop path or Approved for controlled sandbox use only on an authorised sandbox path after the required evidence is recorded. Real organisational release must remain unapproved, and the log must include a meaningful-AI-assistance note.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Copilot Across Your Everyday Work Apps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LO3 - Analyse and Communicate: Bound Excel analysis to named data, inspect formulas and reconcile totals; in Outlook, separate thread facts from generated wording and keep the final send decision with the user.</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LO4 - Coordinate and Govern: Validate Teams actions against the transcript, preserve ownership and due dates across app handoffs, and use permissions, sensitivity, source checks and human approval as release gates.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Ground &amp; Prompt</a:t>
            </a:r>
          </a:p>
          <a:p>
            <a:pPr algn="l">
              <a:spcAft>
                <a:spcPts val="300"/>
              </a:spcAft>
            </a:pPr>
            <a:r>
              <a:rPr sz="1300" b="0">
                <a:solidFill>
                  <a:srgbClr val="5B6372"/>
                </a:solidFill>
                <a:latin typeface="Arial"/>
              </a:rPr>
              <a:t>Explain how Microsoft 365 Copilot grounds responses, apply a structured prompt method and verify a source-backed research summary in Copilot Chat.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Write &amp; Present</a:t>
            </a:r>
          </a:p>
          <a:p>
            <a:pPr algn="l">
              <a:spcAft>
                <a:spcPts val="300"/>
              </a:spcAft>
            </a:pPr>
            <a:r>
              <a:rPr sz="1300" b="0">
                <a:solidFill>
                  <a:srgbClr val="5B6372"/>
                </a:solidFill>
                <a:latin typeface="Arial"/>
              </a:rPr>
              <a:t>Draft, rewrite and validate a business document in Word, then generate and refine a presentation in PowerPoint from the approved document.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Analyse &amp; Communicate</a:t>
            </a:r>
          </a:p>
          <a:p>
            <a:pPr algn="l">
              <a:spcAft>
                <a:spcPts val="300"/>
              </a:spcAft>
            </a:pPr>
            <a:r>
              <a:rPr sz="1300" b="0">
                <a:solidFill>
                  <a:srgbClr val="5B6372"/>
                </a:solidFill>
                <a:latin typeface="Arial"/>
              </a:rPr>
              <a:t>Analyse a bounded dataset and generate formulas in Excel, then summarise a synthetic email thread and prepare a reviewed response in Outlook.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Coordinate &amp; Govern</a:t>
            </a:r>
          </a:p>
          <a:p>
            <a:pPr algn="l">
              <a:spcAft>
                <a:spcPts val="300"/>
              </a:spcAft>
            </a:pPr>
            <a:r>
              <a:rPr sz="1300" b="0">
                <a:solidFill>
                  <a:srgbClr val="5B6372"/>
                </a:solidFill>
                <a:latin typeface="Arial"/>
              </a:rPr>
              <a:t>Produce a Teams meeting recap and action register, connect outputs across Microsoft 365 apps, and apply responsible-use, privacy and human-review controls.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Continue the Traceable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Reuse the G-C-S-E prompt card on one bounded, authorised task.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Keep source, proposal, verification and release state together.</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Reconcile repeated dates, owners and numbers across every app handoff.</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Review current Microsoft guidance whenever features or labels change.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Keep your downloaded C027 course files and use the lab checkpoints to restart safely.</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MICROSOFT 365 COPILOT MASTERCLASS · C027</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ground, create, analyse, coordinate and govern Microsoft 365 Copilot work while keeping evidence, permissions and human judgment in control.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Masterclass  ·  C027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